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83" r:id="rId2"/>
    <p:sldId id="257" r:id="rId3"/>
    <p:sldId id="282" r:id="rId4"/>
    <p:sldId id="285" r:id="rId5"/>
    <p:sldId id="281" r:id="rId6"/>
    <p:sldId id="288" r:id="rId7"/>
    <p:sldId id="264" r:id="rId8"/>
    <p:sldId id="278" r:id="rId9"/>
    <p:sldId id="289" r:id="rId10"/>
    <p:sldId id="292" r:id="rId11"/>
    <p:sldId id="293" r:id="rId12"/>
    <p:sldId id="294" r:id="rId13"/>
    <p:sldId id="295" r:id="rId14"/>
    <p:sldId id="296" r:id="rId15"/>
    <p:sldId id="297" r:id="rId16"/>
    <p:sldId id="298" r:id="rId17"/>
    <p:sldId id="299" r:id="rId18"/>
    <p:sldId id="286" r:id="rId19"/>
    <p:sldId id="290" r:id="rId20"/>
    <p:sldId id="280" r:id="rId21"/>
    <p:sldId id="276"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591CF7-6E22-14BF-DB99-3894772A19DF}" v="65" dt="2026-04-21T05:09:31.452"/>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varScale="1">
        <p:scale>
          <a:sx n="85" d="100"/>
          <a:sy n="85" d="100"/>
        </p:scale>
        <p:origin x="74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47274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hyperlink" Target="https://github.com/SnehYogKulkarni/SmartHomeEnergyAdvisorAgent" TargetMode="Externa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a:t>
            </a:r>
            <a:r>
              <a:rPr lang="en-US" sz="6600" b="1" dirty="0" smtClean="0"/>
              <a:t/>
            </a:r>
            <a:br>
              <a:rPr lang="en-US" sz="6600" b="1" dirty="0" smtClean="0"/>
            </a:br>
            <a:r>
              <a:rPr lang="en-US" sz="6600" b="1" dirty="0" smtClean="0"/>
              <a:t>“</a:t>
            </a:r>
            <a:r>
              <a:rPr lang="en-IN" sz="5400" dirty="0" smtClean="0"/>
              <a:t>Smart </a:t>
            </a:r>
            <a:r>
              <a:rPr lang="en-IN" sz="5400" dirty="0"/>
              <a:t>Home Energy </a:t>
            </a:r>
            <a:r>
              <a:rPr lang="en-IN" sz="5400" dirty="0" smtClean="0"/>
              <a:t>Advisor</a:t>
            </a:r>
            <a:r>
              <a:rPr lang="en-IN" sz="5400" b="1" dirty="0" smtClean="0"/>
              <a:t>”</a:t>
            </a:r>
            <a:r>
              <a:rPr lang="en-US" b="1" dirty="0"/>
              <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a:t>
            </a:r>
            <a:r>
              <a:rPr lang="en-US" b="1" i="1" dirty="0" smtClean="0"/>
              <a:t>Orchestrate ”</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215671744"/>
              </p:ext>
            </p:extLst>
          </p:nvPr>
        </p:nvGraphicFramePr>
        <p:xfrm>
          <a:off x="857957" y="2743722"/>
          <a:ext cx="10363200" cy="1455745"/>
        </p:xfrm>
        <a:graphic>
          <a:graphicData uri="http://schemas.openxmlformats.org/drawingml/2006/table">
            <a:tbl>
              <a:tblPr>
                <a:noFill/>
                <a:tableStyleId>{0AAD8F4D-43EB-41E5-8A38-28AB6DFB1B60}</a:tableStyleId>
              </a:tblPr>
              <a:tblGrid>
                <a:gridCol w="3078224">
                  <a:extLst>
                    <a:ext uri="{9D8B030D-6E8A-4147-A177-3AD203B41FA5}">
                      <a16:colId xmlns:a16="http://schemas.microsoft.com/office/drawing/2014/main" val="20000"/>
                    </a:ext>
                  </a:extLst>
                </a:gridCol>
                <a:gridCol w="3863212">
                  <a:extLst>
                    <a:ext uri="{9D8B030D-6E8A-4147-A177-3AD203B41FA5}">
                      <a16:colId xmlns:a16="http://schemas.microsoft.com/office/drawing/2014/main" val="20003"/>
                    </a:ext>
                  </a:extLst>
                </a:gridCol>
                <a:gridCol w="3421764">
                  <a:extLst>
                    <a:ext uri="{9D8B030D-6E8A-4147-A177-3AD203B41FA5}">
                      <a16:colId xmlns:a16="http://schemas.microsoft.com/office/drawing/2014/main" val="20004"/>
                    </a:ext>
                  </a:extLst>
                </a:gridCol>
              </a:tblGrid>
              <a:tr h="677233">
                <a:tc>
                  <a:txBody>
                    <a:bodyPr/>
                    <a:lstStyle/>
                    <a:p>
                      <a:pPr marL="0" marR="0" lvl="0" indent="0" algn="ctr" rtl="0">
                        <a:spcBef>
                          <a:spcPts val="0"/>
                        </a:spcBef>
                        <a:spcAft>
                          <a:spcPts val="0"/>
                        </a:spcAft>
                        <a:buNone/>
                      </a:pPr>
                      <a:r>
                        <a:rPr lang="en-US" sz="1800" b="1" u="none" strike="noStrike" cap="none" dirty="0" smtClean="0">
                          <a:latin typeface="Times New Roman" panose="02020603050405020304" pitchFamily="18" charset="0"/>
                          <a:cs typeface="Times New Roman" panose="02020603050405020304" pitchFamily="18" charset="0"/>
                        </a:rPr>
                        <a:t>Faculty Name</a:t>
                      </a:r>
                      <a:endParaRPr sz="1800" b="1"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rPr>
                        <a:t>Email ID </a:t>
                      </a:r>
                      <a:endParaRPr sz="1800" b="1" i="0" u="none" strike="noStrike" cap="none" dirty="0">
                        <a:solidFill>
                          <a:srgbClr val="000000"/>
                        </a:solidFill>
                        <a:latin typeface="Times New Roman" panose="02020603050405020304" pitchFamily="18" charset="0"/>
                        <a:cs typeface="Times New Roman" panose="02020603050405020304" pitchFamily="18" charset="0"/>
                        <a:sym typeface="Arial"/>
                      </a:endParaRPr>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rPr>
                        <a:t>Mobile number</a:t>
                      </a:r>
                      <a:endParaRPr sz="1800" b="1" i="0" u="none" strike="noStrike" cap="none" dirty="0">
                        <a:solidFill>
                          <a:srgbClr val="000000"/>
                        </a:solidFill>
                        <a:latin typeface="Times New Roman" panose="02020603050405020304" pitchFamily="18" charset="0"/>
                        <a:cs typeface="Times New Roman" panose="02020603050405020304" pitchFamily="18" charset="0"/>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1"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rPr>
                        <a:t>[WhatsApp] </a:t>
                      </a:r>
                      <a:endParaRPr sz="1800" b="1" i="0" u="none" strike="noStrike" cap="none" dirty="0">
                        <a:solidFill>
                          <a:srgbClr val="000000"/>
                        </a:solidFill>
                        <a:latin typeface="Times New Roman" panose="02020603050405020304" pitchFamily="18" charset="0"/>
                        <a:cs typeface="Times New Roman" panose="02020603050405020304" pitchFamily="18" charset="0"/>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778512">
                <a:tc>
                  <a:txBody>
                    <a:bodyPr/>
                    <a:lstStyle/>
                    <a:p>
                      <a:pPr marL="0" marR="0" lvl="0" indent="0" algn="ctr" rtl="0">
                        <a:spcBef>
                          <a:spcPts val="0"/>
                        </a:spcBef>
                        <a:spcAft>
                          <a:spcPts val="0"/>
                        </a:spcAft>
                        <a:buNone/>
                      </a:pPr>
                      <a:r>
                        <a:rPr lang="en-US" sz="2000" dirty="0" err="1" smtClean="0">
                          <a:latin typeface="Times New Roman" panose="02020603050405020304" pitchFamily="18" charset="0"/>
                          <a:cs typeface="Times New Roman" panose="02020603050405020304" pitchFamily="18" charset="0"/>
                        </a:rPr>
                        <a:t>Mrs</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Snehal</a:t>
                      </a:r>
                      <a:r>
                        <a:rPr lang="en-US" sz="2000" dirty="0" smtClean="0">
                          <a:latin typeface="Times New Roman" panose="02020603050405020304" pitchFamily="18" charset="0"/>
                          <a:cs typeface="Times New Roman" panose="02020603050405020304" pitchFamily="18" charset="0"/>
                        </a:rPr>
                        <a:t> Y Kulkarni</a:t>
                      </a:r>
                      <a:endParaRPr sz="2000" dirty="0">
                        <a:latin typeface="Times New Roman" panose="02020603050405020304" pitchFamily="18" charset="0"/>
                        <a:cs typeface="Times New Roman" panose="02020603050405020304" pitchFamily="18" charset="0"/>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sz="2000" dirty="0" smtClean="0">
                          <a:latin typeface="Times New Roman" panose="02020603050405020304" pitchFamily="18" charset="0"/>
                          <a:cs typeface="Times New Roman" panose="02020603050405020304" pitchFamily="18" charset="0"/>
                        </a:rPr>
                        <a:t>kulkarni.snehal.y@gmail.com</a:t>
                      </a:r>
                      <a:endParaRPr sz="2000" dirty="0">
                        <a:latin typeface="Times New Roman" panose="02020603050405020304" pitchFamily="18" charset="0"/>
                        <a:cs typeface="Times New Roman" panose="02020603050405020304" pitchFamily="18" charset="0"/>
                      </a:endParaRPr>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sz="2000" dirty="0" smtClean="0">
                          <a:latin typeface="Times New Roman" panose="02020603050405020304" pitchFamily="18" charset="0"/>
                          <a:cs typeface="Times New Roman" panose="02020603050405020304" pitchFamily="18" charset="0"/>
                        </a:rPr>
                        <a:t>9822352292</a:t>
                      </a:r>
                      <a:endParaRPr sz="2000" dirty="0">
                        <a:latin typeface="Times New Roman" panose="02020603050405020304" pitchFamily="18" charset="0"/>
                        <a:cs typeface="Times New Roman" panose="02020603050405020304" pitchFamily="18" charset="0"/>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2" y="1470236"/>
            <a:ext cx="10280254"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Domain of  Project </a:t>
            </a:r>
            <a:r>
              <a:rPr lang="en-US" sz="2400" b="1" dirty="0" smtClean="0">
                <a:latin typeface="Times New Roman" panose="02020603050405020304" pitchFamily="18" charset="0"/>
                <a:cs typeface="Times New Roman" panose="02020603050405020304" pitchFamily="18" charset="0"/>
              </a:rPr>
              <a:t>– Energy Consumption</a:t>
            </a:r>
            <a:endParaRPr lang="en-IN" sz="2400" b="1" dirty="0">
              <a:highlight>
                <a:srgbClr val="FFFF00"/>
              </a:highligh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Project Tile – </a:t>
            </a:r>
            <a:r>
              <a:rPr lang="en-US" sz="3200" dirty="0">
                <a:latin typeface="Times New Roman" panose="02020603050405020304" pitchFamily="18" charset="0"/>
                <a:cs typeface="Times New Roman" panose="02020603050405020304" pitchFamily="18" charset="0"/>
              </a:rPr>
              <a:t>Smart Home Energy Advisor Agent</a:t>
            </a:r>
            <a:endParaRPr lang="en-IN"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39"/>
            <a:ext cx="10780550" cy="5324535"/>
          </a:xfrm>
          <a:prstGeom prst="rect">
            <a:avLst/>
          </a:prstGeom>
          <a:noFill/>
        </p:spPr>
        <p:txBody>
          <a:bodyPr wrap="square" rtlCol="0">
            <a:spAutoFit/>
          </a:bodyPr>
          <a:lstStyle/>
          <a:p>
            <a:pPr marL="285750" indent="-285750">
              <a:buFont typeface="Wingdings" panose="05000000000000000000" pitchFamily="2" charset="2"/>
              <a:buChar char="Ø"/>
            </a:pPr>
            <a:r>
              <a:rPr lang="en-US" sz="1700" b="1" dirty="0">
                <a:latin typeface="Times New Roman" panose="02020603050405020304" pitchFamily="18" charset="0"/>
                <a:cs typeface="Times New Roman" panose="02020603050405020304" pitchFamily="18" charset="0"/>
              </a:rPr>
              <a:t>The Challenge</a:t>
            </a:r>
            <a:endParaRPr lang="en-IN" sz="1700" dirty="0">
              <a:latin typeface="Times New Roman" panose="02020603050405020304" pitchFamily="18" charset="0"/>
              <a:cs typeface="Times New Roman" panose="02020603050405020304" pitchFamily="18" charset="0"/>
            </a:endParaRPr>
          </a:p>
          <a:p>
            <a:r>
              <a:rPr lang="en-US" sz="1700" dirty="0">
                <a:latin typeface="Times New Roman" panose="02020603050405020304" pitchFamily="18" charset="0"/>
                <a:cs typeface="Times New Roman" panose="02020603050405020304" pitchFamily="18" charset="0"/>
              </a:rPr>
              <a:t>Rising electricity demand and energy costs make it difficult for households to understand how their daily habits impact power consumption. Most users only receive monthly bills, which provide limited insight into appliance-level energy usage. As a result, people often waste electricity unknowingly, highlighting the need for an AI-powered system that analyzes usage patterns and provides actionable energy-saving recommendations.</a:t>
            </a:r>
            <a:endParaRPr lang="en-IN" sz="17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700" b="1" dirty="0">
                <a:latin typeface="Times New Roman" panose="02020603050405020304" pitchFamily="18" charset="0"/>
                <a:cs typeface="Times New Roman" panose="02020603050405020304" pitchFamily="18" charset="0"/>
              </a:rPr>
              <a:t>The Objective</a:t>
            </a:r>
            <a:endParaRPr lang="en-IN" sz="1700" dirty="0">
              <a:latin typeface="Times New Roman" panose="02020603050405020304" pitchFamily="18" charset="0"/>
              <a:cs typeface="Times New Roman" panose="02020603050405020304" pitchFamily="18" charset="0"/>
            </a:endParaRPr>
          </a:p>
          <a:p>
            <a:r>
              <a:rPr lang="en-US" sz="1700" dirty="0">
                <a:latin typeface="Times New Roman" panose="02020603050405020304" pitchFamily="18" charset="0"/>
                <a:cs typeface="Times New Roman" panose="02020603050405020304" pitchFamily="18" charset="0"/>
              </a:rPr>
              <a:t>Build an AI-powered Smart Home Energy Advisor Agent that analyzes household electricity consumption data and provides intelligent recommendations to optimize energy usage.</a:t>
            </a:r>
            <a:endParaRPr lang="en-IN" sz="1700" dirty="0">
              <a:latin typeface="Times New Roman" panose="02020603050405020304" pitchFamily="18" charset="0"/>
              <a:cs typeface="Times New Roman" panose="02020603050405020304" pitchFamily="18" charset="0"/>
            </a:endParaRPr>
          </a:p>
          <a:p>
            <a:pPr marL="342900" lvl="0" indent="-342900">
              <a:buAutoNum type="arabicPeriod"/>
            </a:pPr>
            <a:r>
              <a:rPr lang="en-US" sz="1700" b="1" dirty="0" smtClean="0">
                <a:latin typeface="Times New Roman" panose="02020603050405020304" pitchFamily="18" charset="0"/>
                <a:cs typeface="Times New Roman" panose="02020603050405020304" pitchFamily="18" charset="0"/>
              </a:rPr>
              <a:t>Energy </a:t>
            </a:r>
            <a:r>
              <a:rPr lang="en-US" sz="1700" b="1" dirty="0">
                <a:latin typeface="Times New Roman" panose="02020603050405020304" pitchFamily="18" charset="0"/>
                <a:cs typeface="Times New Roman" panose="02020603050405020304" pitchFamily="18" charset="0"/>
              </a:rPr>
              <a:t>Consumption Analysis –</a:t>
            </a:r>
            <a:r>
              <a:rPr lang="en-US" sz="1700" dirty="0">
                <a:latin typeface="Times New Roman" panose="02020603050405020304" pitchFamily="18" charset="0"/>
                <a:cs typeface="Times New Roman" panose="02020603050405020304" pitchFamily="18" charset="0"/>
              </a:rPr>
              <a:t> Analyze household electricity usage patterns from smart meters or appliance usage </a:t>
            </a:r>
            <a:r>
              <a:rPr lang="en-US" sz="1700" dirty="0" smtClean="0">
                <a:latin typeface="Times New Roman" panose="02020603050405020304" pitchFamily="18" charset="0"/>
                <a:cs typeface="Times New Roman" panose="02020603050405020304" pitchFamily="18" charset="0"/>
              </a:rPr>
              <a:t>logs.</a:t>
            </a:r>
          </a:p>
          <a:p>
            <a:pPr marL="342900" lvl="0" indent="-342900">
              <a:buAutoNum type="arabicPeriod"/>
            </a:pPr>
            <a:r>
              <a:rPr lang="en-US" sz="1700" b="1" dirty="0" smtClean="0">
                <a:latin typeface="Times New Roman" panose="02020603050405020304" pitchFamily="18" charset="0"/>
                <a:cs typeface="Times New Roman" panose="02020603050405020304" pitchFamily="18" charset="0"/>
              </a:rPr>
              <a:t>Personalized </a:t>
            </a:r>
            <a:r>
              <a:rPr lang="en-US" sz="1700" b="1" dirty="0">
                <a:latin typeface="Times New Roman" panose="02020603050405020304" pitchFamily="18" charset="0"/>
                <a:cs typeface="Times New Roman" panose="02020603050405020304" pitchFamily="18" charset="0"/>
              </a:rPr>
              <a:t>Energy Recommendations –</a:t>
            </a:r>
            <a:r>
              <a:rPr lang="en-US" sz="1700" dirty="0">
                <a:latin typeface="Times New Roman" panose="02020603050405020304" pitchFamily="18" charset="0"/>
                <a:cs typeface="Times New Roman" panose="02020603050405020304" pitchFamily="18" charset="0"/>
              </a:rPr>
              <a:t> Suggest energy-saving actions based on the user's consumption behavior and daily </a:t>
            </a:r>
            <a:r>
              <a:rPr lang="en-US" sz="1700" dirty="0" smtClean="0">
                <a:latin typeface="Times New Roman" panose="02020603050405020304" pitchFamily="18" charset="0"/>
                <a:cs typeface="Times New Roman" panose="02020603050405020304" pitchFamily="18" charset="0"/>
              </a:rPr>
              <a:t>routines.</a:t>
            </a:r>
            <a:endParaRPr lang="en-IN" sz="1700" dirty="0">
              <a:latin typeface="Times New Roman" panose="02020603050405020304" pitchFamily="18" charset="0"/>
              <a:cs typeface="Times New Roman" panose="02020603050405020304" pitchFamily="18" charset="0"/>
            </a:endParaRPr>
          </a:p>
          <a:p>
            <a:pPr marL="342900" lvl="0" indent="-342900">
              <a:buAutoNum type="arabicPeriod"/>
            </a:pPr>
            <a:r>
              <a:rPr lang="en-US" sz="1700" b="1" dirty="0" smtClean="0">
                <a:latin typeface="Times New Roman" panose="02020603050405020304" pitchFamily="18" charset="0"/>
                <a:cs typeface="Times New Roman" panose="02020603050405020304" pitchFamily="18" charset="0"/>
              </a:rPr>
              <a:t>Appliance </a:t>
            </a:r>
            <a:r>
              <a:rPr lang="en-US" sz="1700" b="1" dirty="0">
                <a:latin typeface="Times New Roman" panose="02020603050405020304" pitchFamily="18" charset="0"/>
                <a:cs typeface="Times New Roman" panose="02020603050405020304" pitchFamily="18" charset="0"/>
              </a:rPr>
              <a:t>Usage Insights –</a:t>
            </a:r>
            <a:r>
              <a:rPr lang="en-US" sz="1700" dirty="0">
                <a:latin typeface="Times New Roman" panose="02020603050405020304" pitchFamily="18" charset="0"/>
                <a:cs typeface="Times New Roman" panose="02020603050405020304" pitchFamily="18" charset="0"/>
              </a:rPr>
              <a:t> Identify appliances that consume the most electricity and recommend optimal usage </a:t>
            </a:r>
            <a:r>
              <a:rPr lang="en-US" sz="1700" dirty="0" smtClean="0">
                <a:latin typeface="Times New Roman" panose="02020603050405020304" pitchFamily="18" charset="0"/>
                <a:cs typeface="Times New Roman" panose="02020603050405020304" pitchFamily="18" charset="0"/>
              </a:rPr>
              <a:t>strategies.</a:t>
            </a:r>
            <a:endParaRPr lang="en-IN" sz="1700" dirty="0">
              <a:latin typeface="Times New Roman" panose="02020603050405020304" pitchFamily="18" charset="0"/>
              <a:cs typeface="Times New Roman" panose="02020603050405020304" pitchFamily="18" charset="0"/>
            </a:endParaRPr>
          </a:p>
          <a:p>
            <a:pPr marL="342900" lvl="0" indent="-342900">
              <a:buAutoNum type="arabicPeriod"/>
            </a:pPr>
            <a:r>
              <a:rPr lang="en-US" sz="1700" b="1" dirty="0" smtClean="0">
                <a:latin typeface="Times New Roman" panose="02020603050405020304" pitchFamily="18" charset="0"/>
                <a:cs typeface="Times New Roman" panose="02020603050405020304" pitchFamily="18" charset="0"/>
              </a:rPr>
              <a:t>Electricity </a:t>
            </a:r>
            <a:r>
              <a:rPr lang="en-US" sz="1700" b="1" dirty="0">
                <a:latin typeface="Times New Roman" panose="02020603050405020304" pitchFamily="18" charset="0"/>
                <a:cs typeface="Times New Roman" panose="02020603050405020304" pitchFamily="18" charset="0"/>
              </a:rPr>
              <a:t>Bill Estimation –</a:t>
            </a:r>
            <a:r>
              <a:rPr lang="en-US" sz="1700" dirty="0">
                <a:latin typeface="Times New Roman" panose="02020603050405020304" pitchFamily="18" charset="0"/>
                <a:cs typeface="Times New Roman" panose="02020603050405020304" pitchFamily="18" charset="0"/>
              </a:rPr>
              <a:t> Predict monthly electricity bills based on current usage patterns and tariff </a:t>
            </a:r>
            <a:r>
              <a:rPr lang="en-US" sz="1700" dirty="0" smtClean="0">
                <a:latin typeface="Times New Roman" panose="02020603050405020304" pitchFamily="18" charset="0"/>
                <a:cs typeface="Times New Roman" panose="02020603050405020304" pitchFamily="18" charset="0"/>
              </a:rPr>
              <a:t>structures.</a:t>
            </a:r>
            <a:endParaRPr lang="en-IN" sz="1700" dirty="0">
              <a:latin typeface="Times New Roman" panose="02020603050405020304" pitchFamily="18" charset="0"/>
              <a:cs typeface="Times New Roman" panose="02020603050405020304" pitchFamily="18" charset="0"/>
            </a:endParaRPr>
          </a:p>
          <a:p>
            <a:pPr marL="342900" lvl="0" indent="-342900">
              <a:buAutoNum type="arabicPeriod"/>
            </a:pPr>
            <a:r>
              <a:rPr lang="en-US" sz="1700" b="1" dirty="0" smtClean="0">
                <a:latin typeface="Times New Roman" panose="02020603050405020304" pitchFamily="18" charset="0"/>
                <a:cs typeface="Times New Roman" panose="02020603050405020304" pitchFamily="18" charset="0"/>
              </a:rPr>
              <a:t>Energy </a:t>
            </a:r>
            <a:r>
              <a:rPr lang="en-US" sz="1700" b="1" dirty="0">
                <a:latin typeface="Times New Roman" panose="02020603050405020304" pitchFamily="18" charset="0"/>
                <a:cs typeface="Times New Roman" panose="02020603050405020304" pitchFamily="18" charset="0"/>
              </a:rPr>
              <a:t>Efficiency Suggestions –</a:t>
            </a:r>
            <a:r>
              <a:rPr lang="en-US" sz="1700" dirty="0">
                <a:latin typeface="Times New Roman" panose="02020603050405020304" pitchFamily="18" charset="0"/>
                <a:cs typeface="Times New Roman" panose="02020603050405020304" pitchFamily="18" charset="0"/>
              </a:rPr>
              <a:t> Recommend simple practices such as reducing peak-hour usage, scheduling heavy appliances, or upgrading to energy-efficient devices</a:t>
            </a:r>
            <a:r>
              <a:rPr lang="en-US" sz="1700" dirty="0" smtClean="0">
                <a:latin typeface="Times New Roman" panose="02020603050405020304" pitchFamily="18" charset="0"/>
                <a:cs typeface="Times New Roman" panose="02020603050405020304" pitchFamily="18" charset="0"/>
              </a:rPr>
              <a:t>.</a:t>
            </a:r>
          </a:p>
          <a:p>
            <a:pPr lvl="0"/>
            <a:endParaRPr lang="en-US" sz="17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1700" b="1" dirty="0">
                <a:latin typeface="Times New Roman" panose="02020603050405020304" pitchFamily="18" charset="0"/>
                <a:cs typeface="Times New Roman" panose="02020603050405020304" pitchFamily="18" charset="0"/>
              </a:rPr>
              <a:t>Tech Stack (Mandatory)</a:t>
            </a:r>
            <a:endParaRPr lang="en-IN" sz="1700" dirty="0">
              <a:latin typeface="Times New Roman" panose="02020603050405020304" pitchFamily="18" charset="0"/>
              <a:cs typeface="Times New Roman" panose="02020603050405020304" pitchFamily="18" charset="0"/>
            </a:endParaRPr>
          </a:p>
          <a:p>
            <a:pPr lvl="0"/>
            <a:r>
              <a:rPr lang="en-IN" sz="1700" dirty="0">
                <a:latin typeface="Times New Roman" panose="02020603050405020304" pitchFamily="18" charset="0"/>
                <a:cs typeface="Times New Roman" panose="02020603050405020304" pitchFamily="18" charset="0"/>
              </a:rPr>
              <a:t>IBM </a:t>
            </a:r>
            <a:r>
              <a:rPr lang="en-IN" sz="1700" dirty="0" err="1">
                <a:latin typeface="Times New Roman" panose="02020603050405020304" pitchFamily="18" charset="0"/>
                <a:cs typeface="Times New Roman" panose="02020603050405020304" pitchFamily="18" charset="0"/>
              </a:rPr>
              <a:t>Langflow</a:t>
            </a:r>
            <a:r>
              <a:rPr lang="en-IN" sz="1700" dirty="0">
                <a:latin typeface="Times New Roman" panose="02020603050405020304" pitchFamily="18" charset="0"/>
                <a:cs typeface="Times New Roman" panose="02020603050405020304" pitchFamily="18" charset="0"/>
              </a:rPr>
              <a:t> / IBM Orchestrate + IBM </a:t>
            </a:r>
            <a:r>
              <a:rPr lang="en-IN" sz="1700" dirty="0" smtClean="0">
                <a:latin typeface="Times New Roman" panose="02020603050405020304" pitchFamily="18" charset="0"/>
                <a:cs typeface="Times New Roman" panose="02020603050405020304" pitchFamily="18" charset="0"/>
              </a:rPr>
              <a:t>Models</a:t>
            </a:r>
            <a:endParaRPr lang="en-IN" sz="17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847FA31-EA47-D27A-9D69-AF50A3080AEC}"/>
              </a:ext>
            </a:extLst>
          </p:cNvPr>
          <p:cNvSpPr txBox="1"/>
          <p:nvPr/>
        </p:nvSpPr>
        <p:spPr>
          <a:xfrm>
            <a:off x="587360" y="377664"/>
            <a:ext cx="9448461" cy="830997"/>
          </a:xfrm>
          <a:prstGeom prst="rect">
            <a:avLst/>
          </a:prstGeom>
          <a:noFill/>
        </p:spPr>
        <p:txBody>
          <a:bodyPr wrap="square" rtlCol="0">
            <a:spAutoFit/>
          </a:bodyPr>
          <a:lstStyle/>
          <a:p>
            <a:r>
              <a:rPr lang="en-US" sz="2400" b="1" dirty="0"/>
              <a:t>Problem Statement </a:t>
            </a:r>
            <a:r>
              <a:rPr lang="en-US" sz="2400" b="1" dirty="0" smtClean="0"/>
              <a:t>-  </a:t>
            </a:r>
            <a:r>
              <a:rPr lang="en-US" sz="2400" dirty="0"/>
              <a:t>Smart Home Energy Advisor Agent</a:t>
            </a:r>
            <a:endParaRPr lang="en-IN" sz="2400" dirty="0"/>
          </a:p>
          <a:p>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474472" y="1776306"/>
            <a:ext cx="10746684" cy="2123658"/>
          </a:xfrm>
          <a:prstGeom prst="rect">
            <a:avLst/>
          </a:prstGeom>
          <a:noFill/>
        </p:spPr>
        <p:txBody>
          <a:bodyPr wrap="square" rtlCol="0">
            <a:spAutoFit/>
          </a:bodyPr>
          <a:lstStyle/>
          <a:p>
            <a:r>
              <a:rPr lang="en-US" sz="2200" dirty="0" smtClean="0">
                <a:latin typeface="Times New Roman" panose="02020603050405020304" pitchFamily="18" charset="0"/>
                <a:cs typeface="Times New Roman" panose="02020603050405020304" pitchFamily="18" charset="0"/>
              </a:rPr>
              <a:t>The </a:t>
            </a:r>
            <a:r>
              <a:rPr lang="en-US" sz="2200" b="1" dirty="0" smtClean="0">
                <a:latin typeface="Times New Roman" panose="02020603050405020304" pitchFamily="18" charset="0"/>
                <a:cs typeface="Times New Roman" panose="02020603050405020304" pitchFamily="18" charset="0"/>
              </a:rPr>
              <a:t>Smart Study Generator Agent</a:t>
            </a:r>
            <a:r>
              <a:rPr lang="en-US" sz="2200" dirty="0" smtClean="0">
                <a:latin typeface="Times New Roman" panose="02020603050405020304" pitchFamily="18" charset="0"/>
                <a:cs typeface="Times New Roman" panose="02020603050405020304" pitchFamily="18" charset="0"/>
              </a:rPr>
              <a:t> is an AI-powered, agentic learning assistant that:</a:t>
            </a:r>
          </a:p>
          <a:p>
            <a:pPr marL="342900" indent="-342900">
              <a:buAutoNum type="arabicPeriod"/>
            </a:pPr>
            <a:r>
              <a:rPr lang="en-US" sz="2200" dirty="0" smtClean="0">
                <a:latin typeface="Times New Roman" panose="02020603050405020304" pitchFamily="18" charset="0"/>
                <a:cs typeface="Times New Roman" panose="02020603050405020304" pitchFamily="18" charset="0"/>
              </a:rPr>
              <a:t>Collects and organizes learning materials from multiple sources. </a:t>
            </a:r>
          </a:p>
          <a:p>
            <a:pPr marL="342900" indent="-342900">
              <a:buAutoNum type="arabicPeriod"/>
            </a:pPr>
            <a:r>
              <a:rPr lang="en-US" sz="2200" dirty="0" smtClean="0">
                <a:latin typeface="Times New Roman" panose="02020603050405020304" pitchFamily="18" charset="0"/>
                <a:cs typeface="Times New Roman" panose="02020603050405020304" pitchFamily="18" charset="0"/>
              </a:rPr>
              <a:t>Understands multimodal inputs (text, images, voice). </a:t>
            </a:r>
          </a:p>
          <a:p>
            <a:pPr marL="342900" indent="-342900">
              <a:buAutoNum type="arabicPeriod"/>
            </a:pPr>
            <a:r>
              <a:rPr lang="en-US" sz="2200" dirty="0" smtClean="0">
                <a:latin typeface="Times New Roman" panose="02020603050405020304" pitchFamily="18" charset="0"/>
                <a:cs typeface="Times New Roman" panose="02020603050405020304" pitchFamily="18" charset="0"/>
              </a:rPr>
              <a:t>Generates personalized study resources. </a:t>
            </a:r>
          </a:p>
          <a:p>
            <a:pPr marL="342900" indent="-342900">
              <a:buAutoNum type="arabicPeriod"/>
            </a:pPr>
            <a:r>
              <a:rPr lang="en-US" sz="2200" dirty="0" smtClean="0">
                <a:latin typeface="Times New Roman" panose="02020603050405020304" pitchFamily="18" charset="0"/>
                <a:cs typeface="Times New Roman" panose="02020603050405020304" pitchFamily="18" charset="0"/>
              </a:rPr>
              <a:t>Predicts important topics and recommends study strategies. </a:t>
            </a:r>
          </a:p>
          <a:p>
            <a:pPr marL="342900" indent="-342900">
              <a:buAutoNum type="arabicPeriod"/>
            </a:pPr>
            <a:r>
              <a:rPr lang="en-US" sz="2200" dirty="0" smtClean="0">
                <a:latin typeface="Times New Roman" panose="02020603050405020304" pitchFamily="18" charset="0"/>
                <a:cs typeface="Times New Roman" panose="02020603050405020304" pitchFamily="18" charset="0"/>
              </a:rPr>
              <a:t>Continuously monitors progress and adapts learning plans.</a:t>
            </a:r>
            <a:endParaRPr lang="en-US" sz="22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27F30CC-07EF-8FCC-DA00-C9212F5DAECE}"/>
              </a:ext>
            </a:extLst>
          </p:cNvPr>
          <p:cNvSpPr txBox="1"/>
          <p:nvPr/>
        </p:nvSpPr>
        <p:spPr>
          <a:xfrm>
            <a:off x="474472" y="963732"/>
            <a:ext cx="721461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Proposed Solution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50783" y="53519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200" b="1" dirty="0" smtClean="0">
                <a:latin typeface="Times New Roman" panose="02020603050405020304" pitchFamily="18" charset="0"/>
                <a:cs typeface="Times New Roman" panose="02020603050405020304" pitchFamily="18" charset="0"/>
                <a:sym typeface="Times New Roman"/>
              </a:rPr>
              <a:t>Component </a:t>
            </a:r>
            <a:r>
              <a:rPr lang="en-US" sz="3200" b="1" dirty="0">
                <a:latin typeface="Times New Roman" panose="02020603050405020304" pitchFamily="18" charset="0"/>
                <a:cs typeface="Times New Roman" panose="02020603050405020304" pitchFamily="18" charset="0"/>
                <a:sym typeface="Times New Roman"/>
              </a:rPr>
              <a:t>Used -</a:t>
            </a:r>
            <a:endParaRPr sz="3200" b="1" dirty="0">
              <a:latin typeface="Times New Roman" panose="02020603050405020304" pitchFamily="18" charset="0"/>
              <a:cs typeface="Times New Roman" panose="02020603050405020304" pitchFamily="18" charset="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9" name="Text Placeholder 8"/>
          <p:cNvSpPr>
            <a:spLocks noGrp="1"/>
          </p:cNvSpPr>
          <p:nvPr>
            <p:ph type="body" idx="1"/>
          </p:nvPr>
        </p:nvSpPr>
        <p:spPr>
          <a:xfrm>
            <a:off x="550783" y="1196622"/>
            <a:ext cx="5533928" cy="5496516"/>
          </a:xfrm>
        </p:spPr>
        <p:txBody>
          <a:bodyPr>
            <a:noAutofit/>
          </a:bodyPr>
          <a:lstStyle/>
          <a:p>
            <a:pPr>
              <a:lnSpc>
                <a:spcPct val="150000"/>
              </a:lnSpc>
              <a:spcBef>
                <a:spcPts val="0"/>
              </a:spcBef>
              <a:buFont typeface="Courier New" panose="02070309020205020404" pitchFamily="49" charset="0"/>
              <a:buChar char="o"/>
            </a:pPr>
            <a:r>
              <a:rPr lang="en-US" sz="1500" b="1" dirty="0" smtClean="0">
                <a:latin typeface="Times New Roman" panose="02020603050405020304" pitchFamily="18" charset="0"/>
                <a:cs typeface="Times New Roman" panose="02020603050405020304" pitchFamily="18" charset="0"/>
              </a:rPr>
              <a:t>IBM </a:t>
            </a:r>
            <a:r>
              <a:rPr lang="en-US" sz="1500" b="1" dirty="0">
                <a:latin typeface="Times New Roman" panose="02020603050405020304" pitchFamily="18" charset="0"/>
                <a:cs typeface="Times New Roman" panose="02020603050405020304" pitchFamily="18" charset="0"/>
              </a:rPr>
              <a:t>Cloud</a:t>
            </a:r>
          </a:p>
          <a:p>
            <a:pPr marL="285750" indent="-285750">
              <a:lnSpc>
                <a:spcPct val="150000"/>
              </a:lnSpc>
              <a:spcBef>
                <a:spcPts val="0"/>
              </a:spcBef>
              <a:buFont typeface="Wingdings" panose="05000000000000000000" pitchFamily="2" charset="2"/>
              <a:buChar char="ü"/>
            </a:pPr>
            <a:r>
              <a:rPr lang="en-US" sz="1500" dirty="0">
                <a:latin typeface="Times New Roman" panose="02020603050405020304" pitchFamily="18" charset="0"/>
                <a:cs typeface="Times New Roman" panose="02020603050405020304" pitchFamily="18" charset="0"/>
              </a:rPr>
              <a:t>Cloud platform for hosting and deploying the application </a:t>
            </a:r>
          </a:p>
          <a:p>
            <a:pPr marL="285750" indent="-285750">
              <a:lnSpc>
                <a:spcPct val="150000"/>
              </a:lnSpc>
              <a:spcBef>
                <a:spcPts val="0"/>
              </a:spcBef>
              <a:buFont typeface="Wingdings" panose="05000000000000000000" pitchFamily="2" charset="2"/>
              <a:buChar char="ü"/>
            </a:pPr>
            <a:r>
              <a:rPr lang="en-US" sz="1500" dirty="0">
                <a:latin typeface="Times New Roman" panose="02020603050405020304" pitchFamily="18" charset="0"/>
                <a:cs typeface="Times New Roman" panose="02020603050405020304" pitchFamily="18" charset="0"/>
              </a:rPr>
              <a:t>Secure storage and scalable infrastructure </a:t>
            </a:r>
          </a:p>
          <a:p>
            <a:pPr marL="285750" indent="-285750">
              <a:lnSpc>
                <a:spcPct val="150000"/>
              </a:lnSpc>
              <a:spcBef>
                <a:spcPts val="0"/>
              </a:spcBef>
              <a:buFont typeface="Wingdings" panose="05000000000000000000" pitchFamily="2" charset="2"/>
              <a:buChar char="ü"/>
            </a:pPr>
            <a:r>
              <a:rPr lang="en-US" sz="1500" dirty="0">
                <a:latin typeface="Times New Roman" panose="02020603050405020304" pitchFamily="18" charset="0"/>
                <a:cs typeface="Times New Roman" panose="02020603050405020304" pitchFamily="18" charset="0"/>
              </a:rPr>
              <a:t>Application monitoring and management </a:t>
            </a:r>
          </a:p>
          <a:p>
            <a:pPr>
              <a:lnSpc>
                <a:spcPct val="150000"/>
              </a:lnSpc>
              <a:spcBef>
                <a:spcPts val="0"/>
              </a:spcBef>
              <a:buFont typeface="Courier New" panose="02070309020205020404" pitchFamily="49" charset="0"/>
              <a:buChar char="o"/>
            </a:pPr>
            <a:r>
              <a:rPr lang="en-US" sz="1500" b="1" dirty="0" smtClean="0">
                <a:latin typeface="Times New Roman" panose="02020603050405020304" pitchFamily="18" charset="0"/>
                <a:cs typeface="Times New Roman" panose="02020603050405020304" pitchFamily="18" charset="0"/>
              </a:rPr>
              <a:t>IBM </a:t>
            </a:r>
            <a:r>
              <a:rPr lang="en-US" sz="1500" b="1" dirty="0" err="1">
                <a:latin typeface="Times New Roman" panose="02020603050405020304" pitchFamily="18" charset="0"/>
                <a:cs typeface="Times New Roman" panose="02020603050405020304" pitchFamily="18" charset="0"/>
              </a:rPr>
              <a:t>watsonx</a:t>
            </a:r>
            <a:r>
              <a:rPr lang="en-US" sz="1500" b="1" dirty="0">
                <a:latin typeface="Times New Roman" panose="02020603050405020304" pitchFamily="18" charset="0"/>
                <a:cs typeface="Times New Roman" panose="02020603050405020304" pitchFamily="18" charset="0"/>
              </a:rPr>
              <a:t> Orchestrate</a:t>
            </a:r>
          </a:p>
          <a:p>
            <a:pPr marL="285750" indent="-285750">
              <a:lnSpc>
                <a:spcPct val="150000"/>
              </a:lnSpc>
              <a:spcBef>
                <a:spcPts val="0"/>
              </a:spcBef>
              <a:buFont typeface="Wingdings" panose="05000000000000000000" pitchFamily="2" charset="2"/>
              <a:buChar char="ü"/>
            </a:pPr>
            <a:r>
              <a:rPr lang="en-US" sz="1500" dirty="0">
                <a:latin typeface="Times New Roman" panose="02020603050405020304" pitchFamily="18" charset="0"/>
                <a:cs typeface="Times New Roman" panose="02020603050405020304" pitchFamily="18" charset="0"/>
              </a:rPr>
              <a:t>Creates and manages the AI agent workflow </a:t>
            </a:r>
          </a:p>
          <a:p>
            <a:pPr marL="285750" indent="-285750">
              <a:lnSpc>
                <a:spcPct val="150000"/>
              </a:lnSpc>
              <a:spcBef>
                <a:spcPts val="0"/>
              </a:spcBef>
              <a:buFont typeface="Wingdings" panose="05000000000000000000" pitchFamily="2" charset="2"/>
              <a:buChar char="ü"/>
            </a:pPr>
            <a:r>
              <a:rPr lang="en-US" sz="1500" dirty="0">
                <a:latin typeface="Times New Roman" panose="02020603050405020304" pitchFamily="18" charset="0"/>
                <a:cs typeface="Times New Roman" panose="02020603050405020304" pitchFamily="18" charset="0"/>
              </a:rPr>
              <a:t>Processes user queries and coordinates tasks </a:t>
            </a:r>
          </a:p>
          <a:p>
            <a:pPr marL="285750" indent="-285750">
              <a:lnSpc>
                <a:spcPct val="150000"/>
              </a:lnSpc>
              <a:spcBef>
                <a:spcPts val="0"/>
              </a:spcBef>
              <a:buFont typeface="Wingdings" panose="05000000000000000000" pitchFamily="2" charset="2"/>
              <a:buChar char="ü"/>
            </a:pPr>
            <a:r>
              <a:rPr lang="en-US" sz="1500" dirty="0">
                <a:latin typeface="Times New Roman" panose="02020603050405020304" pitchFamily="18" charset="0"/>
                <a:cs typeface="Times New Roman" panose="02020603050405020304" pitchFamily="18" charset="0"/>
              </a:rPr>
              <a:t>Generates recommendations and notifications </a:t>
            </a:r>
          </a:p>
          <a:p>
            <a:pPr marL="285750" indent="-285750">
              <a:lnSpc>
                <a:spcPct val="150000"/>
              </a:lnSpc>
              <a:spcBef>
                <a:spcPts val="0"/>
              </a:spcBef>
              <a:buFont typeface="Wingdings" panose="05000000000000000000" pitchFamily="2" charset="2"/>
              <a:buChar char="ü"/>
            </a:pPr>
            <a:r>
              <a:rPr lang="en-US" sz="1500" dirty="0">
                <a:latin typeface="Times New Roman" panose="02020603050405020304" pitchFamily="18" charset="0"/>
                <a:cs typeface="Times New Roman" panose="02020603050405020304" pitchFamily="18" charset="0"/>
              </a:rPr>
              <a:t>Integrates knowledge sources and automates </a:t>
            </a:r>
            <a:r>
              <a:rPr lang="en-US" sz="1500" dirty="0" smtClean="0">
                <a:latin typeface="Times New Roman" panose="02020603050405020304" pitchFamily="18" charset="0"/>
                <a:cs typeface="Times New Roman" panose="02020603050405020304" pitchFamily="18" charset="0"/>
              </a:rPr>
              <a:t>decision-making</a:t>
            </a:r>
          </a:p>
          <a:p>
            <a:pPr>
              <a:buFont typeface="Courier New" panose="02070309020205020404" pitchFamily="49" charset="0"/>
              <a:buChar char="o"/>
            </a:pPr>
            <a:r>
              <a:rPr lang="en-US" sz="1600" b="1" dirty="0">
                <a:latin typeface="Times New Roman" panose="02020603050405020304" pitchFamily="18" charset="0"/>
                <a:cs typeface="Times New Roman" panose="02020603050405020304" pitchFamily="18" charset="0"/>
              </a:rPr>
              <a:t>User Profile and Preferences</a:t>
            </a:r>
          </a:p>
          <a:p>
            <a:pPr>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Stores household-specific information:</a:t>
            </a:r>
          </a:p>
          <a:p>
            <a:pPr>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Number of Family Members </a:t>
            </a:r>
          </a:p>
          <a:p>
            <a:pPr>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Monthly Electricity Budget </a:t>
            </a:r>
          </a:p>
          <a:p>
            <a:pPr>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Preferred Comfort Settings </a:t>
            </a:r>
          </a:p>
          <a:p>
            <a:pPr>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Working Schedule </a:t>
            </a:r>
          </a:p>
          <a:p>
            <a:pPr>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Energy-Saving Preferences</a:t>
            </a:r>
          </a:p>
          <a:p>
            <a:pPr marL="0" indent="0">
              <a:lnSpc>
                <a:spcPct val="150000"/>
              </a:lnSpc>
              <a:spcBef>
                <a:spcPts val="0"/>
              </a:spcBef>
              <a:buNone/>
            </a:pPr>
            <a:endParaRPr lang="en-IN" sz="1500" dirty="0">
              <a:latin typeface="Times New Roman" panose="02020603050405020304" pitchFamily="18" charset="0"/>
              <a:cs typeface="Times New Roman" panose="02020603050405020304" pitchFamily="18" charset="0"/>
            </a:endParaRPr>
          </a:p>
        </p:txBody>
      </p:sp>
      <p:sp>
        <p:nvSpPr>
          <p:cNvPr id="10" name="Text Placeholder 9"/>
          <p:cNvSpPr>
            <a:spLocks noGrp="1"/>
          </p:cNvSpPr>
          <p:nvPr>
            <p:ph type="body" idx="2"/>
          </p:nvPr>
        </p:nvSpPr>
        <p:spPr>
          <a:xfrm>
            <a:off x="6787385" y="1433689"/>
            <a:ext cx="5181600" cy="5000978"/>
          </a:xfrm>
        </p:spPr>
        <p:txBody>
          <a:bodyPr>
            <a:normAutofit fontScale="55000" lnSpcReduction="20000"/>
          </a:bodyPr>
          <a:lstStyle/>
          <a:p>
            <a:pPr indent="-457200">
              <a:lnSpc>
                <a:spcPct val="150000"/>
              </a:lnSpc>
              <a:spcBef>
                <a:spcPts val="0"/>
              </a:spcBef>
              <a:buFont typeface="Courier New" panose="02070309020205020404" pitchFamily="49" charset="0"/>
              <a:buChar char="o"/>
            </a:pPr>
            <a:r>
              <a:rPr lang="en-US" b="1" dirty="0" smtClean="0">
                <a:latin typeface="Times New Roman" panose="02020603050405020304" pitchFamily="18" charset="0"/>
                <a:cs typeface="Times New Roman" panose="02020603050405020304" pitchFamily="18" charset="0"/>
              </a:rPr>
              <a:t>Data </a:t>
            </a:r>
            <a:r>
              <a:rPr lang="en-US" b="1" dirty="0">
                <a:latin typeface="Times New Roman" panose="02020603050405020304" pitchFamily="18" charset="0"/>
                <a:cs typeface="Times New Roman" panose="02020603050405020304" pitchFamily="18" charset="0"/>
              </a:rPr>
              <a:t>Components</a:t>
            </a:r>
          </a:p>
          <a:p>
            <a:pPr marL="114300" indent="0">
              <a:lnSpc>
                <a:spcPct val="150000"/>
              </a:lnSpc>
              <a:spcBef>
                <a:spcPts val="0"/>
              </a:spcBef>
              <a:buNone/>
            </a:pPr>
            <a:r>
              <a:rPr lang="en-US" b="1" dirty="0">
                <a:latin typeface="Times New Roman" panose="02020603050405020304" pitchFamily="18" charset="0"/>
                <a:cs typeface="Times New Roman" panose="02020603050405020304" pitchFamily="18" charset="0"/>
              </a:rPr>
              <a:t>a. Smart Meter Data</a:t>
            </a:r>
          </a:p>
          <a:p>
            <a:pPr marL="114300" indent="0">
              <a:lnSpc>
                <a:spcPct val="150000"/>
              </a:lnSpc>
              <a:spcBef>
                <a:spcPts val="0"/>
              </a:spcBef>
              <a:buNone/>
            </a:pPr>
            <a:r>
              <a:rPr lang="en-US" dirty="0">
                <a:latin typeface="Times New Roman" panose="02020603050405020304" pitchFamily="18" charset="0"/>
                <a:cs typeface="Times New Roman" panose="02020603050405020304" pitchFamily="18" charset="0"/>
              </a:rPr>
              <a:t>Stores electricity consumption information:</a:t>
            </a:r>
          </a:p>
          <a:p>
            <a:pPr marL="285750" indent="-285750">
              <a:lnSpc>
                <a:spcPct val="150000"/>
              </a:lnSpc>
              <a:spcBef>
                <a:spcPts val="0"/>
              </a:spcBef>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Timestamp </a:t>
            </a:r>
          </a:p>
          <a:p>
            <a:pPr marL="285750" indent="-285750">
              <a:lnSpc>
                <a:spcPct val="150000"/>
              </a:lnSpc>
              <a:spcBef>
                <a:spcPts val="0"/>
              </a:spcBef>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Total Energy Consumed (kWh) </a:t>
            </a:r>
          </a:p>
          <a:p>
            <a:pPr marL="285750" indent="-285750">
              <a:lnSpc>
                <a:spcPct val="150000"/>
              </a:lnSpc>
              <a:spcBef>
                <a:spcPts val="0"/>
              </a:spcBef>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Hourly Consumption </a:t>
            </a:r>
          </a:p>
          <a:p>
            <a:pPr marL="285750" indent="-285750">
              <a:lnSpc>
                <a:spcPct val="150000"/>
              </a:lnSpc>
              <a:spcBef>
                <a:spcPts val="0"/>
              </a:spcBef>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Daily Consumption </a:t>
            </a:r>
          </a:p>
          <a:p>
            <a:pPr marL="285750" indent="-285750">
              <a:lnSpc>
                <a:spcPct val="150000"/>
              </a:lnSpc>
              <a:spcBef>
                <a:spcPts val="0"/>
              </a:spcBef>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Peak and Off-Peak Usage</a:t>
            </a:r>
          </a:p>
          <a:p>
            <a:pPr marL="114300" indent="0">
              <a:lnSpc>
                <a:spcPct val="150000"/>
              </a:lnSpc>
              <a:spcBef>
                <a:spcPts val="0"/>
              </a:spcBef>
              <a:buNone/>
            </a:pPr>
            <a:r>
              <a:rPr lang="en-IN" b="1" dirty="0">
                <a:latin typeface="Times New Roman" panose="02020603050405020304" pitchFamily="18" charset="0"/>
                <a:cs typeface="Times New Roman" panose="02020603050405020304" pitchFamily="18" charset="0"/>
              </a:rPr>
              <a:t>b. Appliance Usage Logs</a:t>
            </a:r>
          </a:p>
          <a:p>
            <a:pPr marL="114300" indent="0">
              <a:lnSpc>
                <a:spcPct val="150000"/>
              </a:lnSpc>
              <a:spcBef>
                <a:spcPts val="0"/>
              </a:spcBef>
              <a:buNone/>
            </a:pPr>
            <a:r>
              <a:rPr lang="en-IN" dirty="0">
                <a:latin typeface="Times New Roman" panose="02020603050405020304" pitchFamily="18" charset="0"/>
                <a:cs typeface="Times New Roman" panose="02020603050405020304" pitchFamily="18" charset="0"/>
              </a:rPr>
              <a:t>Stores appliance-level usage details:</a:t>
            </a:r>
          </a:p>
          <a:p>
            <a:pPr marL="285750" indent="-285750">
              <a:lnSpc>
                <a:spcPct val="150000"/>
              </a:lnSpc>
              <a:spcBef>
                <a:spcPts val="0"/>
              </a:spcBef>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Appliance Name </a:t>
            </a:r>
          </a:p>
          <a:p>
            <a:pPr marL="285750" indent="-285750">
              <a:lnSpc>
                <a:spcPct val="150000"/>
              </a:lnSpc>
              <a:spcBef>
                <a:spcPts val="0"/>
              </a:spcBef>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Power Rating (W/kW) </a:t>
            </a:r>
          </a:p>
          <a:p>
            <a:pPr marL="285750" indent="-285750">
              <a:lnSpc>
                <a:spcPct val="150000"/>
              </a:lnSpc>
              <a:spcBef>
                <a:spcPts val="0"/>
              </a:spcBef>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Usage Duration </a:t>
            </a:r>
          </a:p>
          <a:p>
            <a:pPr marL="285750" indent="-285750">
              <a:lnSpc>
                <a:spcPct val="150000"/>
              </a:lnSpc>
              <a:spcBef>
                <a:spcPts val="0"/>
              </a:spcBef>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Frequency of Usage</a:t>
            </a:r>
          </a:p>
          <a:p>
            <a:pPr marL="114300" indent="0">
              <a:buNone/>
            </a:pPr>
            <a:endParaRPr lang="en-IN" dirty="0"/>
          </a:p>
        </p:txBody>
      </p:sp>
    </p:spTree>
    <p:extLst>
      <p:ext uri="{BB962C8B-B14F-4D97-AF65-F5344CB8AC3E}">
        <p14:creationId xmlns:p14="http://schemas.microsoft.com/office/powerpoint/2010/main" val="3285263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73361" y="849056"/>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200" b="1" dirty="0" smtClean="0">
                <a:latin typeface="Times New Roman" panose="02020603050405020304" pitchFamily="18" charset="0"/>
                <a:cs typeface="Times New Roman" panose="02020603050405020304" pitchFamily="18" charset="0"/>
                <a:sym typeface="Times New Roman"/>
              </a:rPr>
              <a:t>Component </a:t>
            </a:r>
            <a:r>
              <a:rPr lang="en-US" sz="3200" b="1" dirty="0">
                <a:latin typeface="Times New Roman" panose="02020603050405020304" pitchFamily="18" charset="0"/>
                <a:cs typeface="Times New Roman" panose="02020603050405020304" pitchFamily="18" charset="0"/>
                <a:sym typeface="Times New Roman"/>
              </a:rPr>
              <a:t>Used -</a:t>
            </a:r>
            <a:endParaRPr sz="3200" b="1" dirty="0">
              <a:latin typeface="Times New Roman" panose="02020603050405020304" pitchFamily="18" charset="0"/>
              <a:cs typeface="Times New Roman" panose="02020603050405020304" pitchFamily="18" charset="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9" name="Text Placeholder 8"/>
          <p:cNvSpPr>
            <a:spLocks noGrp="1"/>
          </p:cNvSpPr>
          <p:nvPr>
            <p:ph type="body" idx="1"/>
          </p:nvPr>
        </p:nvSpPr>
        <p:spPr/>
        <p:txBody>
          <a:bodyPr>
            <a:noAutofit/>
          </a:bodyPr>
          <a:lstStyle/>
          <a:p>
            <a:pPr>
              <a:buFont typeface="Courier New" panose="02070309020205020404" pitchFamily="49" charset="0"/>
              <a:buChar char="o"/>
            </a:pPr>
            <a:r>
              <a:rPr lang="en-US" sz="1600" b="1" dirty="0">
                <a:latin typeface="Times New Roman" panose="02020603050405020304" pitchFamily="18" charset="0"/>
                <a:cs typeface="Times New Roman" panose="02020603050405020304" pitchFamily="18" charset="0"/>
              </a:rPr>
              <a:t>Knowledge Base (RAG Repository)</a:t>
            </a:r>
          </a:p>
          <a:p>
            <a:pPr marL="114300" indent="0">
              <a:buNone/>
            </a:pPr>
            <a:r>
              <a:rPr lang="en-US" sz="1600" dirty="0">
                <a:latin typeface="Times New Roman" panose="02020603050405020304" pitchFamily="18" charset="0"/>
                <a:cs typeface="Times New Roman" panose="02020603050405020304" pitchFamily="18" charset="0"/>
              </a:rPr>
              <a:t>Contains:</a:t>
            </a:r>
          </a:p>
          <a:p>
            <a:pPr>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Historical energy consumption data </a:t>
            </a:r>
          </a:p>
          <a:p>
            <a:pPr>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Appliance specifications and efficiency ratings </a:t>
            </a:r>
          </a:p>
          <a:p>
            <a:pPr>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Electricity tariff information </a:t>
            </a:r>
          </a:p>
          <a:p>
            <a:pPr>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Energy-saving guidelines and recommendations </a:t>
            </a:r>
          </a:p>
          <a:p>
            <a:pPr>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Previously generated insights and alerts</a:t>
            </a:r>
          </a:p>
        </p:txBody>
      </p:sp>
    </p:spTree>
    <p:extLst>
      <p:ext uri="{BB962C8B-B14F-4D97-AF65-F5344CB8AC3E}">
        <p14:creationId xmlns:p14="http://schemas.microsoft.com/office/powerpoint/2010/main" val="29109653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225778" y="1167493"/>
            <a:ext cx="7732890" cy="5078313"/>
          </a:xfrm>
          <a:prstGeom prst="rect">
            <a:avLst/>
          </a:prstGeom>
          <a:noFill/>
        </p:spPr>
        <p:txBody>
          <a:bodyPr wrap="square" rtlCol="0">
            <a:spAutoFit/>
          </a:bodyPr>
          <a:lstStyle/>
          <a:p>
            <a:pPr marL="285750" indent="-285750">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Agentic AI enables the </a:t>
            </a:r>
            <a:r>
              <a:rPr lang="en-US" sz="1800" b="1" dirty="0">
                <a:latin typeface="Times New Roman" panose="02020603050405020304" pitchFamily="18" charset="0"/>
                <a:cs typeface="Times New Roman" panose="02020603050405020304" pitchFamily="18" charset="0"/>
              </a:rPr>
              <a:t>Smart Home Energy Advisor Agent</a:t>
            </a:r>
            <a:r>
              <a:rPr lang="en-US" sz="1800" dirty="0">
                <a:latin typeface="Times New Roman" panose="02020603050405020304" pitchFamily="18" charset="0"/>
                <a:cs typeface="Times New Roman" panose="02020603050405020304" pitchFamily="18" charset="0"/>
              </a:rPr>
              <a:t> to act as an intelligent and proactive energy consultant rather than a simple monitoring system.</a:t>
            </a:r>
          </a:p>
          <a:p>
            <a:pPr marL="285750" indent="-285750">
              <a:buFont typeface="Wingdings" panose="05000000000000000000" pitchFamily="2" charset="2"/>
              <a:buChar char="ü"/>
            </a:pPr>
            <a:r>
              <a:rPr lang="en-US" sz="1800" b="1" dirty="0">
                <a:latin typeface="Times New Roman" panose="02020603050405020304" pitchFamily="18" charset="0"/>
                <a:cs typeface="Times New Roman" panose="02020603050405020304" pitchFamily="18" charset="0"/>
              </a:rPr>
              <a:t>Energy Monitoring Agent</a:t>
            </a:r>
            <a:r>
              <a:rPr lang="en-US" sz="1800" dirty="0">
                <a:latin typeface="Times New Roman" panose="02020603050405020304" pitchFamily="18" charset="0"/>
                <a:cs typeface="Times New Roman" panose="02020603050405020304" pitchFamily="18" charset="0"/>
              </a:rPr>
              <a:t> continuously tracks smart meter readings and household electricity consumption. </a:t>
            </a:r>
          </a:p>
          <a:p>
            <a:pPr marL="285750" indent="-285750">
              <a:buFont typeface="Wingdings" panose="05000000000000000000" pitchFamily="2" charset="2"/>
              <a:buChar char="ü"/>
            </a:pPr>
            <a:r>
              <a:rPr lang="en-US" sz="1800" b="1" dirty="0">
                <a:latin typeface="Times New Roman" panose="02020603050405020304" pitchFamily="18" charset="0"/>
                <a:cs typeface="Times New Roman" panose="02020603050405020304" pitchFamily="18" charset="0"/>
              </a:rPr>
              <a:t>Consumption Analysis Agent</a:t>
            </a:r>
            <a:r>
              <a:rPr lang="en-US" sz="1800" dirty="0">
                <a:latin typeface="Times New Roman" panose="02020603050405020304" pitchFamily="18" charset="0"/>
                <a:cs typeface="Times New Roman" panose="02020603050405020304" pitchFamily="18" charset="0"/>
              </a:rPr>
              <a:t> identifies usage patterns, peak-hour consumption, and high-energy-consuming appliances. </a:t>
            </a:r>
          </a:p>
          <a:p>
            <a:pPr marL="285750" indent="-285750">
              <a:buFont typeface="Wingdings" panose="05000000000000000000" pitchFamily="2" charset="2"/>
              <a:buChar char="ü"/>
            </a:pPr>
            <a:r>
              <a:rPr lang="en-US" sz="1800" b="1" dirty="0">
                <a:latin typeface="Times New Roman" panose="02020603050405020304" pitchFamily="18" charset="0"/>
                <a:cs typeface="Times New Roman" panose="02020603050405020304" pitchFamily="18" charset="0"/>
              </a:rPr>
              <a:t>Bill Prediction Agent</a:t>
            </a:r>
            <a:r>
              <a:rPr lang="en-US" sz="1800" dirty="0">
                <a:latin typeface="Times New Roman" panose="02020603050405020304" pitchFamily="18" charset="0"/>
                <a:cs typeface="Times New Roman" panose="02020603050405020304" pitchFamily="18" charset="0"/>
              </a:rPr>
              <a:t> estimates monthly electricity bills based on current consumption trends and tariff information. </a:t>
            </a:r>
          </a:p>
          <a:p>
            <a:pPr marL="285750" indent="-285750">
              <a:buFont typeface="Wingdings" panose="05000000000000000000" pitchFamily="2" charset="2"/>
              <a:buChar char="ü"/>
            </a:pPr>
            <a:r>
              <a:rPr lang="en-US" sz="1800" b="1" dirty="0">
                <a:latin typeface="Times New Roman" panose="02020603050405020304" pitchFamily="18" charset="0"/>
                <a:cs typeface="Times New Roman" panose="02020603050405020304" pitchFamily="18" charset="0"/>
              </a:rPr>
              <a:t>Recommendation Agent</a:t>
            </a:r>
            <a:r>
              <a:rPr lang="en-US" sz="1800" dirty="0">
                <a:latin typeface="Times New Roman" panose="02020603050405020304" pitchFamily="18" charset="0"/>
                <a:cs typeface="Times New Roman" panose="02020603050405020304" pitchFamily="18" charset="0"/>
              </a:rPr>
              <a:t> generates personalized energy-saving suggestions based on user preferences, household routines, and appliance usage. </a:t>
            </a:r>
          </a:p>
          <a:p>
            <a:pPr marL="285750" indent="-285750">
              <a:buFont typeface="Wingdings" panose="05000000000000000000" pitchFamily="2" charset="2"/>
              <a:buChar char="ü"/>
            </a:pPr>
            <a:r>
              <a:rPr lang="en-US" sz="1800" b="1" dirty="0">
                <a:latin typeface="Times New Roman" panose="02020603050405020304" pitchFamily="18" charset="0"/>
                <a:cs typeface="Times New Roman" panose="02020603050405020304" pitchFamily="18" charset="0"/>
              </a:rPr>
              <a:t>Alert Agent</a:t>
            </a:r>
            <a:r>
              <a:rPr lang="en-US" sz="1800" dirty="0">
                <a:latin typeface="Times New Roman" panose="02020603050405020304" pitchFamily="18" charset="0"/>
                <a:cs typeface="Times New Roman" panose="02020603050405020304" pitchFamily="18" charset="0"/>
              </a:rPr>
              <a:t> provides proactive notifications when consumption increases, bills exceed budgets, or energy-saving opportunities are identified. </a:t>
            </a:r>
          </a:p>
          <a:p>
            <a:pPr marL="285750" indent="-285750">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The agent continuously </a:t>
            </a:r>
            <a:r>
              <a:rPr lang="en-US" sz="1800" b="1" dirty="0">
                <a:latin typeface="Times New Roman" panose="02020603050405020304" pitchFamily="18" charset="0"/>
                <a:cs typeface="Times New Roman" panose="02020603050405020304" pitchFamily="18" charset="0"/>
              </a:rPr>
              <a:t>adapts recommendations using new consumption data, appliance logs, and user preferences</a:t>
            </a:r>
            <a:r>
              <a:rPr lang="en-US" sz="1800" dirty="0">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The result is a </a:t>
            </a:r>
            <a:r>
              <a:rPr lang="en-US" sz="1800" b="1" dirty="0">
                <a:latin typeface="Times New Roman" panose="02020603050405020304" pitchFamily="18" charset="0"/>
                <a:cs typeface="Times New Roman" panose="02020603050405020304" pitchFamily="18" charset="0"/>
              </a:rPr>
              <a:t>proactive digital energy advisor</a:t>
            </a:r>
            <a:r>
              <a:rPr lang="en-US" sz="1800" dirty="0">
                <a:latin typeface="Times New Roman" panose="02020603050405020304" pitchFamily="18" charset="0"/>
                <a:cs typeface="Times New Roman" panose="02020603050405020304" pitchFamily="18" charset="0"/>
              </a:rPr>
              <a:t> that continuously monitors, predicts, and optimizes household energy usage instead of simply displaying electricity consumption data</a:t>
            </a:r>
            <a:r>
              <a:rPr lang="en-US" sz="1800" dirty="0"/>
              <a:t>.</a:t>
            </a:r>
          </a:p>
        </p:txBody>
      </p:sp>
      <p:pic>
        <p:nvPicPr>
          <p:cNvPr id="5" name="Google Shape;196;p9"/>
          <p:cNvPicPr preferRelativeResize="0"/>
          <p:nvPr/>
        </p:nvPicPr>
        <p:blipFill rotWithShape="1">
          <a:blip r:embed="rId3">
            <a:alphaModFix/>
          </a:blip>
          <a:srcRect/>
          <a:stretch/>
        </p:blipFill>
        <p:spPr>
          <a:xfrm>
            <a:off x="8541319" y="1445142"/>
            <a:ext cx="3015343" cy="452301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7"/>
            <a:ext cx="9518227" cy="2862322"/>
          </a:xfrm>
          <a:prstGeom prst="rect">
            <a:avLst/>
          </a:prstGeom>
          <a:noFill/>
        </p:spPr>
        <p:txBody>
          <a:bodyPr wrap="square" rtlCol="0">
            <a:spAutoFit/>
          </a:bodyPr>
          <a:lstStyle/>
          <a:p>
            <a:pPr marL="285750" lvl="0" indent="-285750" eaLnBrk="0" fontAlgn="base" hangingPunct="0">
              <a:spcBef>
                <a:spcPct val="0"/>
              </a:spcBef>
              <a:spcAft>
                <a:spcPct val="0"/>
              </a:spcAft>
              <a:buClrTx/>
              <a:buFont typeface="Wingdings" panose="05000000000000000000" pitchFamily="2" charset="2"/>
              <a:buChar char="Ø"/>
            </a:pPr>
            <a:r>
              <a:rPr lang="en-US" altLang="en-US" sz="2000" b="1" dirty="0">
                <a:solidFill>
                  <a:schemeClr val="tx1"/>
                </a:solidFill>
                <a:latin typeface="Times New Roman" panose="02020603050405020304" pitchFamily="18" charset="0"/>
                <a:cs typeface="Times New Roman" panose="02020603050405020304" pitchFamily="18" charset="0"/>
              </a:rPr>
              <a:t>IBM </a:t>
            </a:r>
            <a:r>
              <a:rPr lang="en-US" altLang="en-US" sz="2000" b="1" dirty="0" err="1">
                <a:solidFill>
                  <a:schemeClr val="tx1"/>
                </a:solidFill>
                <a:latin typeface="Times New Roman" panose="02020603050405020304" pitchFamily="18" charset="0"/>
                <a:cs typeface="Times New Roman" panose="02020603050405020304" pitchFamily="18" charset="0"/>
              </a:rPr>
              <a:t>watsonx</a:t>
            </a:r>
            <a:r>
              <a:rPr lang="en-US" altLang="en-US" sz="2000" b="1" dirty="0">
                <a:solidFill>
                  <a:schemeClr val="tx1"/>
                </a:solidFill>
                <a:latin typeface="Times New Roman" panose="02020603050405020304" pitchFamily="18" charset="0"/>
                <a:cs typeface="Times New Roman" panose="02020603050405020304" pitchFamily="18" charset="0"/>
              </a:rPr>
              <a:t> Orchestrate</a:t>
            </a:r>
            <a:r>
              <a:rPr lang="en-US" altLang="en-US" sz="2000" dirty="0">
                <a:solidFill>
                  <a:schemeClr val="tx1"/>
                </a:solidFill>
                <a:latin typeface="Times New Roman" panose="02020603050405020304" pitchFamily="18" charset="0"/>
                <a:cs typeface="Times New Roman" panose="02020603050405020304" pitchFamily="18" charset="0"/>
              </a:rPr>
              <a:t> – For designing and orchestrating the Smart Home Energy Advisor Agent workflow and automating energy analysis tasks. </a:t>
            </a:r>
            <a:endParaRPr lang="en-US" altLang="en-US" sz="2000" dirty="0" smtClean="0">
              <a:solidFill>
                <a:schemeClr val="tx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US" altLang="en-US" sz="2000" dirty="0">
              <a:solidFill>
                <a:schemeClr val="tx1"/>
              </a:solidFill>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Wingdings" panose="05000000000000000000" pitchFamily="2" charset="2"/>
              <a:buChar char="Ø"/>
            </a:pPr>
            <a:r>
              <a:rPr lang="en-US" altLang="en-US" sz="2000" b="1" dirty="0" smtClean="0">
                <a:solidFill>
                  <a:schemeClr val="tx1"/>
                </a:solidFill>
                <a:latin typeface="Times New Roman" panose="02020603050405020304" pitchFamily="18" charset="0"/>
                <a:cs typeface="Times New Roman" panose="02020603050405020304" pitchFamily="18" charset="0"/>
              </a:rPr>
              <a:t>IBM </a:t>
            </a:r>
            <a:r>
              <a:rPr lang="en-US" altLang="en-US" sz="2000" b="1" dirty="0">
                <a:solidFill>
                  <a:schemeClr val="tx1"/>
                </a:solidFill>
                <a:latin typeface="Times New Roman" panose="02020603050405020304" pitchFamily="18" charset="0"/>
                <a:cs typeface="Times New Roman" panose="02020603050405020304" pitchFamily="18" charset="0"/>
              </a:rPr>
              <a:t>Cloud</a:t>
            </a:r>
            <a:r>
              <a:rPr lang="en-US" altLang="en-US" sz="2000" dirty="0">
                <a:solidFill>
                  <a:schemeClr val="tx1"/>
                </a:solidFill>
                <a:latin typeface="Times New Roman" panose="02020603050405020304" pitchFamily="18" charset="0"/>
                <a:cs typeface="Times New Roman" panose="02020603050405020304" pitchFamily="18" charset="0"/>
              </a:rPr>
              <a:t> – Provides a secure, reliable, and scalable environment for deploying and managing the Smart Home Energy Advisor Agent. </a:t>
            </a:r>
            <a:endParaRPr lang="en-US" altLang="en-US" sz="2000" dirty="0" smtClean="0">
              <a:solidFill>
                <a:schemeClr val="tx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US" altLang="en-US" sz="2000" dirty="0">
              <a:solidFill>
                <a:schemeClr val="tx1"/>
              </a:solidFill>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Wingdings" panose="05000000000000000000" pitchFamily="2" charset="2"/>
              <a:buChar char="Ø"/>
            </a:pPr>
            <a:r>
              <a:rPr lang="en-US" altLang="en-US" sz="2000" b="1" dirty="0">
                <a:solidFill>
                  <a:schemeClr val="tx1"/>
                </a:solidFill>
                <a:latin typeface="Times New Roman" panose="02020603050405020304" pitchFamily="18" charset="0"/>
                <a:cs typeface="Times New Roman" panose="02020603050405020304" pitchFamily="18" charset="0"/>
              </a:rPr>
              <a:t>RAG (Retrieval-Augmented Generation)</a:t>
            </a:r>
            <a:r>
              <a:rPr lang="en-US" altLang="en-US" sz="2000" dirty="0">
                <a:solidFill>
                  <a:schemeClr val="tx1"/>
                </a:solidFill>
                <a:latin typeface="Times New Roman" panose="02020603050405020304" pitchFamily="18" charset="0"/>
                <a:cs typeface="Times New Roman" panose="02020603050405020304" pitchFamily="18" charset="0"/>
              </a:rPr>
              <a:t> – Retrieves relevant information from smart meter data, appliance logs, user preferences, and energy guidelines to generate contextual and explainable recommendations. </a:t>
            </a:r>
          </a:p>
        </p:txBody>
      </p:sp>
    </p:spTree>
    <p:extLst>
      <p:ext uri="{BB962C8B-B14F-4D97-AF65-F5344CB8AC3E}">
        <p14:creationId xmlns:p14="http://schemas.microsoft.com/office/powerpoint/2010/main" val="3764405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41867" y="365125"/>
            <a:ext cx="10811933" cy="955675"/>
          </a:xfrm>
        </p:spPr>
        <p:txBody>
          <a:bodyPr>
            <a:normAutofit/>
          </a:bodyPr>
          <a:lstStyle/>
          <a:p>
            <a:r>
              <a:rPr lang="en-US" sz="3600" dirty="0">
                <a:latin typeface="Times New Roman" panose="02020603050405020304" pitchFamily="18" charset="0"/>
                <a:cs typeface="Times New Roman" panose="02020603050405020304" pitchFamily="18" charset="0"/>
              </a:rPr>
              <a:t>Smart Home Energy Advisor RAG Knowledge Base</a:t>
            </a:r>
            <a:endParaRPr lang="en-IN" sz="3600" dirty="0">
              <a:latin typeface="Times New Roman" panose="02020603050405020304" pitchFamily="18" charset="0"/>
              <a:cs typeface="Times New Roman" panose="02020603050405020304" pitchFamily="18" charset="0"/>
            </a:endParaRPr>
          </a:p>
        </p:txBody>
      </p:sp>
      <p:sp>
        <p:nvSpPr>
          <p:cNvPr id="5" name="Text Placeholder 4"/>
          <p:cNvSpPr>
            <a:spLocks noGrp="1"/>
          </p:cNvSpPr>
          <p:nvPr>
            <p:ph type="body" idx="1"/>
          </p:nvPr>
        </p:nvSpPr>
        <p:spPr>
          <a:xfrm>
            <a:off x="372533" y="1320800"/>
            <a:ext cx="11390489" cy="4856163"/>
          </a:xfrm>
        </p:spPr>
        <p:txBody>
          <a:bodyPr>
            <a:noAutofit/>
          </a:bodyPr>
          <a:lstStyle/>
          <a:p>
            <a:pPr>
              <a:lnSpc>
                <a:spcPct val="100000"/>
              </a:lnSpc>
              <a:buFont typeface="Wingdings" panose="05000000000000000000" pitchFamily="2" charset="2"/>
              <a:buChar char="ü"/>
            </a:pPr>
            <a:r>
              <a:rPr lang="en-US" sz="1800" b="1" dirty="0">
                <a:latin typeface="Times New Roman" panose="02020603050405020304" pitchFamily="18" charset="0"/>
                <a:cs typeface="Times New Roman" panose="02020603050405020304" pitchFamily="18" charset="0"/>
              </a:rPr>
              <a:t>Energy Consumption Principles</a:t>
            </a:r>
            <a:r>
              <a:rPr lang="en-US" sz="1800" dirty="0">
                <a:latin typeface="Times New Roman" panose="02020603050405020304" pitchFamily="18" charset="0"/>
                <a:cs typeface="Times New Roman" panose="02020603050405020304" pitchFamily="18" charset="0"/>
              </a:rPr>
              <a:t> – Stores information about electricity consumption patterns, peak and off-peak usage, and energy-efficient practices to help users understand how daily activities affect power consumption. </a:t>
            </a:r>
          </a:p>
          <a:p>
            <a:pPr>
              <a:lnSpc>
                <a:spcPct val="100000"/>
              </a:lnSpc>
              <a:buFont typeface="Wingdings" panose="05000000000000000000" pitchFamily="2" charset="2"/>
              <a:buChar char="ü"/>
            </a:pPr>
            <a:r>
              <a:rPr lang="en-US" sz="1800" b="1" dirty="0">
                <a:latin typeface="Times New Roman" panose="02020603050405020304" pitchFamily="18" charset="0"/>
                <a:cs typeface="Times New Roman" panose="02020603050405020304" pitchFamily="18" charset="0"/>
              </a:rPr>
              <a:t>Energy-Efficient Appliances</a:t>
            </a:r>
            <a:r>
              <a:rPr lang="en-US" sz="1800" dirty="0">
                <a:latin typeface="Times New Roman" panose="02020603050405020304" pitchFamily="18" charset="0"/>
                <a:cs typeface="Times New Roman" panose="02020603050405020304" pitchFamily="18" charset="0"/>
              </a:rPr>
              <a:t> – Contains information about energy-saving appliances such as LED bulbs, inverter air conditioners, and 5-star rated devices, along with their optimal usage guidelines. </a:t>
            </a:r>
          </a:p>
          <a:p>
            <a:pPr>
              <a:lnSpc>
                <a:spcPct val="100000"/>
              </a:lnSpc>
              <a:buFont typeface="Wingdings" panose="05000000000000000000" pitchFamily="2" charset="2"/>
              <a:buChar char="ü"/>
            </a:pPr>
            <a:r>
              <a:rPr lang="en-US" sz="1800" b="1" dirty="0">
                <a:latin typeface="Times New Roman" panose="02020603050405020304" pitchFamily="18" charset="0"/>
                <a:cs typeface="Times New Roman" panose="02020603050405020304" pitchFamily="18" charset="0"/>
              </a:rPr>
              <a:t>Energy-Saving Recommendations</a:t>
            </a:r>
            <a:r>
              <a:rPr lang="en-US" sz="1800" dirty="0">
                <a:latin typeface="Times New Roman" panose="02020603050405020304" pitchFamily="18" charset="0"/>
                <a:cs typeface="Times New Roman" panose="02020603050405020304" pitchFamily="18" charset="0"/>
              </a:rPr>
              <a:t> – Maintains best practices for reducing electricity usage, including scheduling heavy appliances during off-peak hours, adjusting appliance settings, and minimizing standby power consumption. </a:t>
            </a:r>
          </a:p>
          <a:p>
            <a:pPr>
              <a:lnSpc>
                <a:spcPct val="100000"/>
              </a:lnSpc>
              <a:buFont typeface="Wingdings" panose="05000000000000000000" pitchFamily="2" charset="2"/>
              <a:buChar char="ü"/>
            </a:pPr>
            <a:r>
              <a:rPr lang="en-US" sz="1800" b="1" dirty="0">
                <a:latin typeface="Times New Roman" panose="02020603050405020304" pitchFamily="18" charset="0"/>
                <a:cs typeface="Times New Roman" panose="02020603050405020304" pitchFamily="18" charset="0"/>
              </a:rPr>
              <a:t>Household Energy Management</a:t>
            </a:r>
            <a:r>
              <a:rPr lang="en-US" sz="1800" dirty="0">
                <a:latin typeface="Times New Roman" panose="02020603050405020304" pitchFamily="18" charset="0"/>
                <a:cs typeface="Times New Roman" panose="02020603050405020304" pitchFamily="18" charset="0"/>
              </a:rPr>
              <a:t> – Includes guidelines for budget management, consumption monitoring, appliance maintenance, and sustainable energy practices to improve overall energy efficiency. </a:t>
            </a:r>
          </a:p>
          <a:p>
            <a:pPr>
              <a:lnSpc>
                <a:spcPct val="100000"/>
              </a:lnSpc>
              <a:buFont typeface="Wingdings" panose="05000000000000000000" pitchFamily="2" charset="2"/>
              <a:buChar char="ü"/>
            </a:pPr>
            <a:r>
              <a:rPr lang="en-US" sz="1800" b="1" dirty="0">
                <a:latin typeface="Times New Roman" panose="02020603050405020304" pitchFamily="18" charset="0"/>
                <a:cs typeface="Times New Roman" panose="02020603050405020304" pitchFamily="18" charset="0"/>
              </a:rPr>
              <a:t>Sample User Queries</a:t>
            </a:r>
            <a:r>
              <a:rPr lang="en-US" sz="1800" dirty="0">
                <a:latin typeface="Times New Roman" panose="02020603050405020304" pitchFamily="18" charset="0"/>
                <a:cs typeface="Times New Roman" panose="02020603050405020304" pitchFamily="18" charset="0"/>
              </a:rPr>
              <a:t> – Stores common questions related to electricity consumption analysis, appliance usage, bill estimation, and personalized energy-saving recommendations. </a:t>
            </a:r>
          </a:p>
          <a:p>
            <a:pPr marL="114300" indent="0">
              <a:lnSpc>
                <a:spcPct val="100000"/>
              </a:lnSpc>
              <a:buNone/>
            </a:pPr>
            <a:r>
              <a:rPr lang="en-US" sz="1800" b="1" dirty="0" smtClean="0">
                <a:latin typeface="Times New Roman" panose="02020603050405020304" pitchFamily="18" charset="0"/>
                <a:cs typeface="Times New Roman" panose="02020603050405020304" pitchFamily="18" charset="0"/>
              </a:rPr>
              <a:t>Outcome</a:t>
            </a:r>
            <a:r>
              <a:rPr lang="en-US" sz="1800" b="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The RAG knowledge base enables the </a:t>
            </a:r>
            <a:r>
              <a:rPr lang="en-US" sz="1800" b="1" dirty="0">
                <a:latin typeface="Times New Roman" panose="02020603050405020304" pitchFamily="18" charset="0"/>
                <a:cs typeface="Times New Roman" panose="02020603050405020304" pitchFamily="18" charset="0"/>
              </a:rPr>
              <a:t>Smart Home Energy Advisor Agent</a:t>
            </a:r>
            <a:r>
              <a:rPr lang="en-US" sz="1800" dirty="0">
                <a:latin typeface="Times New Roman" panose="02020603050405020304" pitchFamily="18" charset="0"/>
                <a:cs typeface="Times New Roman" panose="02020603050405020304" pitchFamily="18" charset="0"/>
              </a:rPr>
              <a:t> to retrieve relevant energy information and provide </a:t>
            </a:r>
            <a:r>
              <a:rPr lang="en-US" sz="1800" b="1" dirty="0">
                <a:latin typeface="Times New Roman" panose="02020603050405020304" pitchFamily="18" charset="0"/>
                <a:cs typeface="Times New Roman" panose="02020603050405020304" pitchFamily="18" charset="0"/>
              </a:rPr>
              <a:t>personalized insights, accurate bill predictions, and actionable recommendations</a:t>
            </a:r>
            <a:r>
              <a:rPr lang="en-US" sz="1800" dirty="0">
                <a:latin typeface="Times New Roman" panose="02020603050405020304" pitchFamily="18" charset="0"/>
                <a:cs typeface="Times New Roman" panose="02020603050405020304" pitchFamily="18" charset="0"/>
              </a:rPr>
              <a:t> that help households optimize electricity consumption and reduce energy costs</a:t>
            </a:r>
            <a:r>
              <a:rPr lang="en-US" sz="1800" dirty="0" smtClean="0">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28869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62467" y="150105"/>
            <a:ext cx="10515600" cy="843317"/>
          </a:xfrm>
        </p:spPr>
        <p:txBody>
          <a:bodyPr>
            <a:normAutofit/>
          </a:bodyPr>
          <a:lstStyle/>
          <a:p>
            <a:r>
              <a:rPr lang="en-IN" sz="3200" b="1" dirty="0">
                <a:latin typeface="Times New Roman" panose="02020603050405020304" pitchFamily="18" charset="0"/>
                <a:cs typeface="Times New Roman" panose="02020603050405020304" pitchFamily="18" charset="0"/>
              </a:rPr>
              <a:t>BEHAVIOR OF THE </a:t>
            </a:r>
            <a:r>
              <a:rPr lang="en-IN" sz="3200" b="1" dirty="0" smtClean="0">
                <a:latin typeface="Times New Roman" panose="02020603050405020304" pitchFamily="18" charset="0"/>
                <a:cs typeface="Times New Roman" panose="02020603050405020304" pitchFamily="18" charset="0"/>
              </a:rPr>
              <a:t>SYSTEM</a:t>
            </a:r>
            <a:endParaRPr lang="en-IN" sz="3200" dirty="0">
              <a:latin typeface="Times New Roman" panose="02020603050405020304" pitchFamily="18" charset="0"/>
              <a:cs typeface="Times New Roman" panose="02020603050405020304" pitchFamily="18" charset="0"/>
            </a:endParaRPr>
          </a:p>
        </p:txBody>
      </p:sp>
      <p:sp>
        <p:nvSpPr>
          <p:cNvPr id="5" name="Text Placeholder 4"/>
          <p:cNvSpPr>
            <a:spLocks noGrp="1"/>
          </p:cNvSpPr>
          <p:nvPr>
            <p:ph type="body" idx="1"/>
          </p:nvPr>
        </p:nvSpPr>
        <p:spPr>
          <a:xfrm>
            <a:off x="372533" y="993422"/>
            <a:ext cx="10620022" cy="4631619"/>
          </a:xfrm>
        </p:spPr>
        <p:txBody>
          <a:bodyPr>
            <a:noAutofit/>
          </a:bodyPr>
          <a:lstStyle/>
          <a:p>
            <a:pPr marL="114300" indent="0">
              <a:buNone/>
            </a:pPr>
            <a:r>
              <a:rPr lang="en-IN" sz="2000" dirty="0">
                <a:latin typeface="Times New Roman" panose="02020603050405020304" pitchFamily="18" charset="0"/>
                <a:cs typeface="Times New Roman" panose="02020603050405020304" pitchFamily="18" charset="0"/>
              </a:rPr>
              <a:t>You are a Smart Home Energy Advisor</a:t>
            </a:r>
            <a:r>
              <a:rPr lang="en-IN" sz="2000" dirty="0" smtClean="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a:t>
            </a:r>
          </a:p>
          <a:p>
            <a:pPr marL="114300" indent="0">
              <a:buNone/>
            </a:pPr>
            <a:r>
              <a:rPr lang="en-IN" sz="2000" dirty="0">
                <a:latin typeface="Times New Roman" panose="02020603050405020304" pitchFamily="18" charset="0"/>
                <a:cs typeface="Times New Roman" panose="02020603050405020304" pitchFamily="18" charset="0"/>
              </a:rPr>
              <a:t>Your objective is to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household electricity consumption and provide personalized recommendations to optimize energy usage</a:t>
            </a:r>
            <a:r>
              <a:rPr lang="en-IN"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marL="114300" indent="0">
              <a:buNone/>
            </a:pPr>
            <a:r>
              <a:rPr lang="en-IN" sz="2000" dirty="0" smtClean="0">
                <a:latin typeface="Times New Roman" panose="02020603050405020304" pitchFamily="18" charset="0"/>
                <a:cs typeface="Times New Roman" panose="02020603050405020304" pitchFamily="18" charset="0"/>
              </a:rPr>
              <a:t>Always:</a:t>
            </a:r>
            <a:endParaRPr lang="en-IN" sz="2000" dirty="0">
              <a:latin typeface="Times New Roman" panose="02020603050405020304" pitchFamily="18" charset="0"/>
              <a:cs typeface="Times New Roman" panose="02020603050405020304" pitchFamily="18" charset="0"/>
            </a:endParaRPr>
          </a:p>
          <a:p>
            <a:pPr marL="114300" indent="0">
              <a:buNone/>
            </a:pPr>
            <a:r>
              <a:rPr lang="en-IN" sz="2000" dirty="0">
                <a:latin typeface="Times New Roman" panose="02020603050405020304" pitchFamily="18" charset="0"/>
                <a:cs typeface="Times New Roman" panose="02020603050405020304" pitchFamily="18" charset="0"/>
              </a:rPr>
              <a:t>1.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smart meter data to identify consumption trends and peak usage periods.</a:t>
            </a:r>
          </a:p>
          <a:p>
            <a:pPr marL="114300" indent="0">
              <a:buNone/>
            </a:pPr>
            <a:r>
              <a:rPr lang="en-IN" sz="2000" dirty="0">
                <a:latin typeface="Times New Roman" panose="02020603050405020304" pitchFamily="18" charset="0"/>
                <a:cs typeface="Times New Roman" panose="02020603050405020304" pitchFamily="18" charset="0"/>
              </a:rPr>
              <a:t>2. Determine which appliances consume the most electricity.</a:t>
            </a:r>
          </a:p>
          <a:p>
            <a:pPr marL="114300" indent="0">
              <a:buNone/>
            </a:pPr>
            <a:r>
              <a:rPr lang="en-IN" sz="2000" dirty="0">
                <a:latin typeface="Times New Roman" panose="02020603050405020304" pitchFamily="18" charset="0"/>
                <a:cs typeface="Times New Roman" panose="02020603050405020304" pitchFamily="18" charset="0"/>
              </a:rPr>
              <a:t>3. Predict monthly electricity bills using current consumption patterns.</a:t>
            </a:r>
          </a:p>
          <a:p>
            <a:pPr marL="114300" indent="0">
              <a:buNone/>
            </a:pPr>
            <a:r>
              <a:rPr lang="en-IN" sz="2000" dirty="0">
                <a:latin typeface="Times New Roman" panose="02020603050405020304" pitchFamily="18" charset="0"/>
                <a:cs typeface="Times New Roman" panose="02020603050405020304" pitchFamily="18" charset="0"/>
              </a:rPr>
              <a:t>4. Provide personalized recommendations based on household preferences and routines</a:t>
            </a:r>
            <a:r>
              <a:rPr lang="en-IN" sz="2000" dirty="0" smtClean="0">
                <a:latin typeface="Times New Roman" panose="02020603050405020304" pitchFamily="18" charset="0"/>
                <a:cs typeface="Times New Roman" panose="02020603050405020304" pitchFamily="18" charset="0"/>
              </a:rPr>
              <a:t>.</a:t>
            </a:r>
          </a:p>
          <a:p>
            <a:pPr marL="114300" indent="0">
              <a:buNone/>
            </a:pPr>
            <a:r>
              <a:rPr lang="en-IN" sz="2000" dirty="0" smtClean="0">
                <a:latin typeface="Times New Roman" panose="02020603050405020304" pitchFamily="18" charset="0"/>
                <a:cs typeface="Times New Roman" panose="02020603050405020304" pitchFamily="18" charset="0"/>
              </a:rPr>
              <a:t>5. Recommend energy-efficient practices such as:</a:t>
            </a:r>
          </a:p>
          <a:p>
            <a:pPr marL="114300" indent="0">
              <a:buNone/>
            </a:pPr>
            <a:r>
              <a:rPr lang="en-IN" sz="2000" dirty="0" smtClean="0">
                <a:latin typeface="Times New Roman" panose="02020603050405020304" pitchFamily="18" charset="0"/>
                <a:cs typeface="Times New Roman" panose="02020603050405020304" pitchFamily="18" charset="0"/>
              </a:rPr>
              <a:t>   - Reducing peak-hour usage</a:t>
            </a:r>
          </a:p>
          <a:p>
            <a:pPr marL="114300" indent="0">
              <a:buNone/>
            </a:pPr>
            <a:r>
              <a:rPr lang="en-IN" sz="2000" dirty="0" smtClean="0">
                <a:latin typeface="Times New Roman" panose="02020603050405020304" pitchFamily="18" charset="0"/>
                <a:cs typeface="Times New Roman" panose="02020603050405020304" pitchFamily="18" charset="0"/>
              </a:rPr>
              <a:t>   - Scheduling heavy appliances during off-peak periods</a:t>
            </a:r>
          </a:p>
          <a:p>
            <a:pPr marL="114300" indent="0">
              <a:buNone/>
            </a:pPr>
            <a:r>
              <a:rPr lang="en-IN" sz="2000" dirty="0" smtClean="0">
                <a:latin typeface="Times New Roman" panose="02020603050405020304" pitchFamily="18" charset="0"/>
                <a:cs typeface="Times New Roman" panose="02020603050405020304" pitchFamily="18" charset="0"/>
              </a:rPr>
              <a:t>   - Adjusting air-conditioner temperature settings</a:t>
            </a:r>
          </a:p>
          <a:p>
            <a:pPr marL="114300" indent="0">
              <a:buNone/>
            </a:pPr>
            <a:r>
              <a:rPr lang="en-IN" sz="2000" dirty="0" smtClean="0">
                <a:latin typeface="Times New Roman" panose="02020603050405020304" pitchFamily="18" charset="0"/>
                <a:cs typeface="Times New Roman" panose="02020603050405020304" pitchFamily="18" charset="0"/>
              </a:rPr>
              <a:t>   - Replacing inefficient appliances</a:t>
            </a:r>
          </a:p>
        </p:txBody>
      </p:sp>
    </p:spTree>
    <p:extLst>
      <p:ext uri="{BB962C8B-B14F-4D97-AF65-F5344CB8AC3E}">
        <p14:creationId xmlns:p14="http://schemas.microsoft.com/office/powerpoint/2010/main" val="21552480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62467" y="150105"/>
            <a:ext cx="10515600" cy="843317"/>
          </a:xfrm>
        </p:spPr>
        <p:txBody>
          <a:bodyPr>
            <a:normAutofit/>
          </a:bodyPr>
          <a:lstStyle/>
          <a:p>
            <a:r>
              <a:rPr lang="en-IN" sz="3200" b="1" dirty="0">
                <a:latin typeface="Times New Roman" panose="02020603050405020304" pitchFamily="18" charset="0"/>
                <a:cs typeface="Times New Roman" panose="02020603050405020304" pitchFamily="18" charset="0"/>
              </a:rPr>
              <a:t>BEHAVIOR OF THE </a:t>
            </a:r>
            <a:r>
              <a:rPr lang="en-IN" sz="3200" b="1" dirty="0" smtClean="0">
                <a:latin typeface="Times New Roman" panose="02020603050405020304" pitchFamily="18" charset="0"/>
                <a:cs typeface="Times New Roman" panose="02020603050405020304" pitchFamily="18" charset="0"/>
              </a:rPr>
              <a:t>SYSTEM</a:t>
            </a:r>
            <a:endParaRPr lang="en-IN" sz="3200" dirty="0">
              <a:latin typeface="Times New Roman" panose="02020603050405020304" pitchFamily="18" charset="0"/>
              <a:cs typeface="Times New Roman" panose="02020603050405020304" pitchFamily="18" charset="0"/>
            </a:endParaRPr>
          </a:p>
        </p:txBody>
      </p:sp>
      <p:sp>
        <p:nvSpPr>
          <p:cNvPr id="5" name="Text Placeholder 4"/>
          <p:cNvSpPr>
            <a:spLocks noGrp="1"/>
          </p:cNvSpPr>
          <p:nvPr>
            <p:ph type="body" idx="1"/>
          </p:nvPr>
        </p:nvSpPr>
        <p:spPr>
          <a:xfrm>
            <a:off x="372533" y="993422"/>
            <a:ext cx="10620022" cy="4631619"/>
          </a:xfrm>
        </p:spPr>
        <p:txBody>
          <a:bodyPr>
            <a:noAutofit/>
          </a:bodyPr>
          <a:lstStyle/>
          <a:p>
            <a:pPr marL="114300" indent="0">
              <a:buNone/>
            </a:pPr>
            <a:r>
              <a:rPr lang="en-IN" sz="2000" dirty="0" smtClean="0">
                <a:latin typeface="Times New Roman" panose="02020603050405020304" pitchFamily="18" charset="0"/>
                <a:cs typeface="Times New Roman" panose="02020603050405020304" pitchFamily="18" charset="0"/>
              </a:rPr>
              <a:t>6</a:t>
            </a:r>
            <a:r>
              <a:rPr lang="en-IN" sz="2000" dirty="0">
                <a:latin typeface="Times New Roman" panose="02020603050405020304" pitchFamily="18" charset="0"/>
                <a:cs typeface="Times New Roman" panose="02020603050405020304" pitchFamily="18" charset="0"/>
              </a:rPr>
              <a:t>. Explain recommendations in simple, non-technical language.</a:t>
            </a:r>
          </a:p>
          <a:p>
            <a:pPr marL="114300" indent="0">
              <a:buNone/>
            </a:pPr>
            <a:r>
              <a:rPr lang="en-IN" sz="2000" dirty="0">
                <a:latin typeface="Times New Roman" panose="02020603050405020304" pitchFamily="18" charset="0"/>
                <a:cs typeface="Times New Roman" panose="02020603050405020304" pitchFamily="18" charset="0"/>
              </a:rPr>
              <a:t>7. Quantify potential savings whenever possible.</a:t>
            </a:r>
          </a:p>
          <a:p>
            <a:pPr marL="114300" indent="0">
              <a:buNone/>
            </a:pPr>
            <a:r>
              <a:rPr lang="en-IN" sz="2000" dirty="0">
                <a:latin typeface="Times New Roman" panose="02020603050405020304" pitchFamily="18" charset="0"/>
                <a:cs typeface="Times New Roman" panose="02020603050405020304" pitchFamily="18" charset="0"/>
              </a:rPr>
              <a:t>8. Generate alerts when:</a:t>
            </a:r>
          </a:p>
          <a:p>
            <a:pPr marL="114300" indent="0">
              <a:buNone/>
            </a:pPr>
            <a:r>
              <a:rPr lang="en-IN" sz="2000" dirty="0">
                <a:latin typeface="Times New Roman" panose="02020603050405020304" pitchFamily="18" charset="0"/>
                <a:cs typeface="Times New Roman" panose="02020603050405020304" pitchFamily="18" charset="0"/>
              </a:rPr>
              <a:t>   - Consumption exceeds normal patterns</a:t>
            </a:r>
          </a:p>
          <a:p>
            <a:pPr marL="114300" indent="0">
              <a:buNone/>
            </a:pPr>
            <a:r>
              <a:rPr lang="en-IN" sz="2000" dirty="0">
                <a:latin typeface="Times New Roman" panose="02020603050405020304" pitchFamily="18" charset="0"/>
                <a:cs typeface="Times New Roman" panose="02020603050405020304" pitchFamily="18" charset="0"/>
              </a:rPr>
              <a:t>   - Estimated bill exceeds budget</a:t>
            </a:r>
          </a:p>
          <a:p>
            <a:pPr marL="114300" indent="0">
              <a:buNone/>
            </a:pPr>
            <a:r>
              <a:rPr lang="en-IN" sz="2000" dirty="0">
                <a:latin typeface="Times New Roman" panose="02020603050405020304" pitchFamily="18" charset="0"/>
                <a:cs typeface="Times New Roman" panose="02020603050405020304" pitchFamily="18" charset="0"/>
              </a:rPr>
              <a:t>   - Peak-hour usage increases significantly</a:t>
            </a:r>
          </a:p>
          <a:p>
            <a:pPr marL="114300" indent="0">
              <a:buNone/>
            </a:pPr>
            <a:r>
              <a:rPr lang="en-IN" sz="2000" dirty="0">
                <a:latin typeface="Times New Roman" panose="02020603050405020304" pitchFamily="18" charset="0"/>
                <a:cs typeface="Times New Roman" panose="02020603050405020304" pitchFamily="18" charset="0"/>
              </a:rPr>
              <a:t>9. Provide actionable steps and prioritize recommendations according to expected savings.</a:t>
            </a:r>
          </a:p>
          <a:p>
            <a:pPr marL="114300" indent="0">
              <a:buNone/>
            </a:pPr>
            <a:r>
              <a:rPr lang="en-IN" sz="2000" dirty="0">
                <a:latin typeface="Times New Roman" panose="02020603050405020304" pitchFamily="18" charset="0"/>
                <a:cs typeface="Times New Roman" panose="02020603050405020304" pitchFamily="18" charset="0"/>
              </a:rPr>
              <a:t>10. Maintain a helpful and advisory tone.</a:t>
            </a:r>
          </a:p>
          <a:p>
            <a:pPr marL="114300" indent="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90955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p:nvPr/>
        </p:nvPicPr>
        <p:blipFill>
          <a:blip r:embed="rId2"/>
          <a:stretch>
            <a:fillRect/>
          </a:stretch>
        </p:blipFill>
        <p:spPr>
          <a:xfrm>
            <a:off x="1072444" y="519290"/>
            <a:ext cx="10453512" cy="5881510"/>
          </a:xfrm>
          <a:prstGeom prst="rect">
            <a:avLst/>
          </a:prstGeom>
        </p:spPr>
      </p:pic>
    </p:spTree>
    <p:extLst>
      <p:ext uri="{BB962C8B-B14F-4D97-AF65-F5344CB8AC3E}">
        <p14:creationId xmlns:p14="http://schemas.microsoft.com/office/powerpoint/2010/main" val="12908363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a:stretch>
            <a:fillRect/>
          </a:stretch>
        </p:blipFill>
        <p:spPr>
          <a:xfrm>
            <a:off x="1230488" y="785812"/>
            <a:ext cx="9866489" cy="5286375"/>
          </a:xfrm>
          <a:prstGeom prst="rect">
            <a:avLst/>
          </a:prstGeom>
        </p:spPr>
      </p:pic>
    </p:spTree>
    <p:extLst>
      <p:ext uri="{BB962C8B-B14F-4D97-AF65-F5344CB8AC3E}">
        <p14:creationId xmlns:p14="http://schemas.microsoft.com/office/powerpoint/2010/main" val="34433021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699910" y="733778"/>
            <a:ext cx="10668000" cy="5497689"/>
          </a:xfrm>
          <a:prstGeom prst="rect">
            <a:avLst/>
          </a:prstGeom>
        </p:spPr>
      </p:pic>
    </p:spTree>
    <p:extLst>
      <p:ext uri="{BB962C8B-B14F-4D97-AF65-F5344CB8AC3E}">
        <p14:creationId xmlns:p14="http://schemas.microsoft.com/office/powerpoint/2010/main" val="4376789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a:stretch>
            <a:fillRect/>
          </a:stretch>
        </p:blipFill>
        <p:spPr>
          <a:xfrm>
            <a:off x="959556" y="541868"/>
            <a:ext cx="10069688" cy="5542844"/>
          </a:xfrm>
          <a:prstGeom prst="rect">
            <a:avLst/>
          </a:prstGeom>
        </p:spPr>
      </p:pic>
    </p:spTree>
    <p:extLst>
      <p:ext uri="{BB962C8B-B14F-4D97-AF65-F5344CB8AC3E}">
        <p14:creationId xmlns:p14="http://schemas.microsoft.com/office/powerpoint/2010/main" val="1621760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801511" y="801511"/>
            <a:ext cx="10893778" cy="4955822"/>
          </a:xfrm>
          <a:prstGeom prst="rect">
            <a:avLst/>
          </a:prstGeom>
        </p:spPr>
      </p:pic>
    </p:spTree>
    <p:extLst>
      <p:ext uri="{BB962C8B-B14F-4D97-AF65-F5344CB8AC3E}">
        <p14:creationId xmlns:p14="http://schemas.microsoft.com/office/powerpoint/2010/main" val="38281983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a:stretch>
            <a:fillRect/>
          </a:stretch>
        </p:blipFill>
        <p:spPr>
          <a:xfrm>
            <a:off x="1614312" y="824088"/>
            <a:ext cx="9031111" cy="5599289"/>
          </a:xfrm>
          <a:prstGeom prst="rect">
            <a:avLst/>
          </a:prstGeom>
        </p:spPr>
      </p:pic>
    </p:spTree>
    <p:extLst>
      <p:ext uri="{BB962C8B-B14F-4D97-AF65-F5344CB8AC3E}">
        <p14:creationId xmlns:p14="http://schemas.microsoft.com/office/powerpoint/2010/main" val="7968936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370840" y="236277"/>
            <a:ext cx="712317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Novelty and Uniqueness</a:t>
            </a:r>
            <a:endParaRPr lang="en-IN" sz="24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D65F54F-855A-0DB6-09A6-3212C5F7405B}"/>
              </a:ext>
            </a:extLst>
          </p:cNvPr>
          <p:cNvSpPr txBox="1"/>
          <p:nvPr/>
        </p:nvSpPr>
        <p:spPr>
          <a:xfrm>
            <a:off x="462846" y="1173141"/>
            <a:ext cx="11119556" cy="5062924"/>
          </a:xfrm>
          <a:prstGeom prst="rect">
            <a:avLst/>
          </a:prstGeom>
          <a:noFill/>
        </p:spPr>
        <p:txBody>
          <a:bodyPr wrap="square" rtlCol="0">
            <a:spAutoFit/>
          </a:bodyPr>
          <a:lstStyle/>
          <a:p>
            <a:r>
              <a:rPr lang="en-US" sz="1900" dirty="0">
                <a:latin typeface="Times New Roman" panose="02020603050405020304" pitchFamily="18" charset="0"/>
                <a:cs typeface="Times New Roman" panose="02020603050405020304" pitchFamily="18" charset="0"/>
              </a:rPr>
              <a:t>The proposed </a:t>
            </a:r>
            <a:r>
              <a:rPr lang="en-US" sz="1900" b="1" dirty="0">
                <a:latin typeface="Times New Roman" panose="02020603050405020304" pitchFamily="18" charset="0"/>
                <a:cs typeface="Times New Roman" panose="02020603050405020304" pitchFamily="18" charset="0"/>
              </a:rPr>
              <a:t>Smart Home Energy Advisor Agent</a:t>
            </a:r>
            <a:r>
              <a:rPr lang="en-US" sz="1900" dirty="0">
                <a:latin typeface="Times New Roman" panose="02020603050405020304" pitchFamily="18" charset="0"/>
                <a:cs typeface="Times New Roman" panose="02020603050405020304" pitchFamily="18" charset="0"/>
              </a:rPr>
              <a:t> stands out by combining </a:t>
            </a:r>
            <a:r>
              <a:rPr lang="en-US" sz="1900" b="1" dirty="0">
                <a:latin typeface="Times New Roman" panose="02020603050405020304" pitchFamily="18" charset="0"/>
                <a:cs typeface="Times New Roman" panose="02020603050405020304" pitchFamily="18" charset="0"/>
              </a:rPr>
              <a:t>Agentic AI, RAG, and personalization</a:t>
            </a:r>
            <a:r>
              <a:rPr lang="en-US" sz="1900" dirty="0">
                <a:latin typeface="Times New Roman" panose="02020603050405020304" pitchFamily="18" charset="0"/>
                <a:cs typeface="Times New Roman" panose="02020603050405020304" pitchFamily="18" charset="0"/>
              </a:rPr>
              <a:t> into a single intelligent energy management system.</a:t>
            </a:r>
          </a:p>
          <a:p>
            <a:pPr marL="285750" indent="-285750">
              <a:buFont typeface="Wingdings" panose="05000000000000000000" pitchFamily="2" charset="2"/>
              <a:buChar char="ü"/>
            </a:pPr>
            <a:r>
              <a:rPr lang="en-US" sz="1900" b="1" dirty="0">
                <a:latin typeface="Times New Roman" panose="02020603050405020304" pitchFamily="18" charset="0"/>
                <a:cs typeface="Times New Roman" panose="02020603050405020304" pitchFamily="18" charset="0"/>
              </a:rPr>
              <a:t>Single Agentic Intelligence</a:t>
            </a:r>
            <a:r>
              <a:rPr lang="en-US" sz="1900" dirty="0">
                <a:latin typeface="Times New Roman" panose="02020603050405020304" pitchFamily="18" charset="0"/>
                <a:cs typeface="Times New Roman" panose="02020603050405020304" pitchFamily="18" charset="0"/>
              </a:rPr>
              <a:t> – Continuously monitors energy consumption, predicts bills, and generates personalized recommendations. </a:t>
            </a:r>
          </a:p>
          <a:p>
            <a:pPr marL="285750" indent="-285750">
              <a:buFont typeface="Wingdings" panose="05000000000000000000" pitchFamily="2" charset="2"/>
              <a:buChar char="ü"/>
            </a:pPr>
            <a:r>
              <a:rPr lang="en-US" sz="1900" b="1" dirty="0">
                <a:latin typeface="Times New Roman" panose="02020603050405020304" pitchFamily="18" charset="0"/>
                <a:cs typeface="Times New Roman" panose="02020603050405020304" pitchFamily="18" charset="0"/>
              </a:rPr>
              <a:t>RAG-Based Accuracy</a:t>
            </a:r>
            <a:r>
              <a:rPr lang="en-US" sz="1900" dirty="0">
                <a:latin typeface="Times New Roman" panose="02020603050405020304" pitchFamily="18" charset="0"/>
                <a:cs typeface="Times New Roman" panose="02020603050405020304" pitchFamily="18" charset="0"/>
              </a:rPr>
              <a:t> – Retrieves relevant information from smart meter data, appliance logs, tariffs, and energy guidelines to provide contextual and trustworthy responses. </a:t>
            </a:r>
          </a:p>
          <a:p>
            <a:pPr marL="285750" indent="-285750">
              <a:buFont typeface="Wingdings" panose="05000000000000000000" pitchFamily="2" charset="2"/>
              <a:buChar char="ü"/>
            </a:pPr>
            <a:r>
              <a:rPr lang="en-US" sz="1900" b="1" dirty="0">
                <a:latin typeface="Times New Roman" panose="02020603050405020304" pitchFamily="18" charset="0"/>
                <a:cs typeface="Times New Roman" panose="02020603050405020304" pitchFamily="18" charset="0"/>
              </a:rPr>
              <a:t>Personalized Recommendations</a:t>
            </a:r>
            <a:r>
              <a:rPr lang="en-US" sz="1900" dirty="0">
                <a:latin typeface="Times New Roman" panose="02020603050405020304" pitchFamily="18" charset="0"/>
                <a:cs typeface="Times New Roman" panose="02020603050405020304" pitchFamily="18" charset="0"/>
              </a:rPr>
              <a:t> – Tailors energy-saving suggestions based on household size, budget, routines, and user preferences. </a:t>
            </a:r>
          </a:p>
          <a:p>
            <a:pPr marL="285750" indent="-285750">
              <a:buFont typeface="Wingdings" panose="05000000000000000000" pitchFamily="2" charset="2"/>
              <a:buChar char="ü"/>
            </a:pPr>
            <a:r>
              <a:rPr lang="en-US" sz="1900" b="1" dirty="0">
                <a:latin typeface="Times New Roman" panose="02020603050405020304" pitchFamily="18" charset="0"/>
                <a:cs typeface="Times New Roman" panose="02020603050405020304" pitchFamily="18" charset="0"/>
              </a:rPr>
              <a:t>Real-Time Adaptation</a:t>
            </a:r>
            <a:r>
              <a:rPr lang="en-US" sz="1900" dirty="0">
                <a:latin typeface="Times New Roman" panose="02020603050405020304" pitchFamily="18" charset="0"/>
                <a:cs typeface="Times New Roman" panose="02020603050405020304" pitchFamily="18" charset="0"/>
              </a:rPr>
              <a:t> – Continuously updates insights and recommendations as new consumption data becomes available. </a:t>
            </a:r>
          </a:p>
          <a:p>
            <a:pPr marL="285750" indent="-285750">
              <a:buFont typeface="Wingdings" panose="05000000000000000000" pitchFamily="2" charset="2"/>
              <a:buChar char="ü"/>
            </a:pPr>
            <a:r>
              <a:rPr lang="en-US" sz="1900" b="1" dirty="0">
                <a:latin typeface="Times New Roman" panose="02020603050405020304" pitchFamily="18" charset="0"/>
                <a:cs typeface="Times New Roman" panose="02020603050405020304" pitchFamily="18" charset="0"/>
              </a:rPr>
              <a:t>Appliance-Level Intelligence</a:t>
            </a:r>
            <a:r>
              <a:rPr lang="en-US" sz="1900" dirty="0">
                <a:latin typeface="Times New Roman" panose="02020603050405020304" pitchFamily="18" charset="0"/>
                <a:cs typeface="Times New Roman" panose="02020603050405020304" pitchFamily="18" charset="0"/>
              </a:rPr>
              <a:t> – Identifies high-energy-consuming devices and recommends optimal usage strategies. </a:t>
            </a:r>
          </a:p>
          <a:p>
            <a:pPr marL="285750" indent="-285750">
              <a:buFont typeface="Wingdings" panose="05000000000000000000" pitchFamily="2" charset="2"/>
              <a:buChar char="ü"/>
            </a:pPr>
            <a:r>
              <a:rPr lang="en-US" sz="1900" b="1" dirty="0">
                <a:latin typeface="Times New Roman" panose="02020603050405020304" pitchFamily="18" charset="0"/>
                <a:cs typeface="Times New Roman" panose="02020603050405020304" pitchFamily="18" charset="0"/>
              </a:rPr>
              <a:t>Interactive Dashboard</a:t>
            </a:r>
            <a:r>
              <a:rPr lang="en-US" sz="1900" dirty="0">
                <a:latin typeface="Times New Roman" panose="02020603050405020304" pitchFamily="18" charset="0"/>
                <a:cs typeface="Times New Roman" panose="02020603050405020304" pitchFamily="18" charset="0"/>
              </a:rPr>
              <a:t> – Visualizes consumption trends, bill estimates, and personalized recommendations. </a:t>
            </a:r>
          </a:p>
          <a:p>
            <a:pPr marL="285750" indent="-285750">
              <a:buFont typeface="Wingdings" panose="05000000000000000000" pitchFamily="2" charset="2"/>
              <a:buChar char="ü"/>
            </a:pPr>
            <a:r>
              <a:rPr lang="en-US" sz="1900" b="1" dirty="0">
                <a:latin typeface="Times New Roman" panose="02020603050405020304" pitchFamily="18" charset="0"/>
                <a:cs typeface="Times New Roman" panose="02020603050405020304" pitchFamily="18" charset="0"/>
              </a:rPr>
              <a:t>Scalable and Enterprise-Ready</a:t>
            </a:r>
            <a:r>
              <a:rPr lang="en-US" sz="1900" dirty="0">
                <a:latin typeface="Times New Roman" panose="02020603050405020304" pitchFamily="18" charset="0"/>
                <a:cs typeface="Times New Roman" panose="02020603050405020304" pitchFamily="18" charset="0"/>
              </a:rPr>
              <a:t> – Built on </a:t>
            </a:r>
            <a:r>
              <a:rPr lang="en-US" sz="1900" b="1" dirty="0">
                <a:latin typeface="Times New Roman" panose="02020603050405020304" pitchFamily="18" charset="0"/>
                <a:cs typeface="Times New Roman" panose="02020603050405020304" pitchFamily="18" charset="0"/>
              </a:rPr>
              <a:t>IBM Cloud</a:t>
            </a:r>
            <a:r>
              <a:rPr lang="en-US" sz="1900" dirty="0">
                <a:latin typeface="Times New Roman" panose="02020603050405020304" pitchFamily="18" charset="0"/>
                <a:cs typeface="Times New Roman" panose="02020603050405020304" pitchFamily="18" charset="0"/>
              </a:rPr>
              <a:t> with </a:t>
            </a:r>
            <a:r>
              <a:rPr lang="en-US" sz="1900" b="1" dirty="0">
                <a:latin typeface="Times New Roman" panose="02020603050405020304" pitchFamily="18" charset="0"/>
                <a:cs typeface="Times New Roman" panose="02020603050405020304" pitchFamily="18" charset="0"/>
              </a:rPr>
              <a:t>IBM </a:t>
            </a:r>
            <a:r>
              <a:rPr lang="en-US" sz="1900" b="1" dirty="0" err="1">
                <a:latin typeface="Times New Roman" panose="02020603050405020304" pitchFamily="18" charset="0"/>
                <a:cs typeface="Times New Roman" panose="02020603050405020304" pitchFamily="18" charset="0"/>
              </a:rPr>
              <a:t>watsonx</a:t>
            </a:r>
            <a:r>
              <a:rPr lang="en-US" sz="1900" b="1" dirty="0">
                <a:latin typeface="Times New Roman" panose="02020603050405020304" pitchFamily="18" charset="0"/>
                <a:cs typeface="Times New Roman" panose="02020603050405020304" pitchFamily="18" charset="0"/>
              </a:rPr>
              <a:t> Orchestrate</a:t>
            </a:r>
            <a:r>
              <a:rPr lang="en-US" sz="1900" dirty="0">
                <a:latin typeface="Times New Roman" panose="02020603050405020304" pitchFamily="18" charset="0"/>
                <a:cs typeface="Times New Roman" panose="02020603050405020304" pitchFamily="18" charset="0"/>
              </a:rPr>
              <a:t>, ensuring reliability, scalability, and secure deployment. </a:t>
            </a:r>
          </a:p>
          <a:p>
            <a:r>
              <a:rPr lang="en-US" sz="1900" dirty="0">
                <a:latin typeface="Times New Roman" panose="02020603050405020304" pitchFamily="18" charset="0"/>
                <a:cs typeface="Times New Roman" panose="02020603050405020304" pitchFamily="18" charset="0"/>
              </a:rPr>
              <a:t>This makes the solution a </a:t>
            </a:r>
            <a:r>
              <a:rPr lang="en-US" sz="1900" b="1" dirty="0">
                <a:latin typeface="Times New Roman" panose="02020603050405020304" pitchFamily="18" charset="0"/>
                <a:cs typeface="Times New Roman" panose="02020603050405020304" pitchFamily="18" charset="0"/>
              </a:rPr>
              <a:t>smart, adaptive, and proactive digital energy advisor</a:t>
            </a:r>
            <a:r>
              <a:rPr lang="en-US" sz="1900" dirty="0">
                <a:latin typeface="Times New Roman" panose="02020603050405020304" pitchFamily="18" charset="0"/>
                <a:cs typeface="Times New Roman" panose="02020603050405020304" pitchFamily="18" charset="0"/>
              </a:rPr>
              <a:t>, not just a static electricity monitoring application.</a:t>
            </a:r>
          </a:p>
        </p:txBody>
      </p:sp>
    </p:spTree>
    <p:extLst>
      <p:ext uri="{BB962C8B-B14F-4D97-AF65-F5344CB8AC3E}">
        <p14:creationId xmlns:p14="http://schemas.microsoft.com/office/powerpoint/2010/main" val="9179641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lvl="0"/>
            <a:r>
              <a:rPr lang="en-US" b="1" dirty="0" err="1" smtClean="0">
                <a:sym typeface="Times New Roman"/>
              </a:rPr>
              <a:t>Github</a:t>
            </a:r>
            <a:r>
              <a:rPr lang="en-US" b="1" dirty="0" smtClean="0">
                <a:sym typeface="Times New Roman"/>
              </a:rPr>
              <a:t> Link</a:t>
            </a:r>
            <a:endParaRPr lang="en-IN" dirty="0"/>
          </a:p>
        </p:txBody>
      </p:sp>
      <p:sp>
        <p:nvSpPr>
          <p:cNvPr id="5" name="Text Placeholder 4"/>
          <p:cNvSpPr>
            <a:spLocks noGrp="1"/>
          </p:cNvSpPr>
          <p:nvPr>
            <p:ph type="body" idx="1"/>
          </p:nvPr>
        </p:nvSpPr>
        <p:spPr/>
        <p:txBody>
          <a:bodyPr/>
          <a:lstStyle/>
          <a:p>
            <a:pPr marL="114300" indent="0">
              <a:buNone/>
            </a:pPr>
            <a:r>
              <a:rPr lang="en-IN" dirty="0">
                <a:hlinkClick r:id="rId2"/>
              </a:rPr>
              <a:t>https://</a:t>
            </a:r>
            <a:r>
              <a:rPr lang="en-IN" dirty="0" smtClean="0">
                <a:hlinkClick r:id="rId2"/>
              </a:rPr>
              <a:t>github.com/SnehYogKulkarni/SmartHomeEnergyAdvisorAgent</a:t>
            </a:r>
            <a:endParaRPr lang="en-IN" dirty="0" smtClean="0"/>
          </a:p>
          <a:p>
            <a:pPr marL="114300" indent="0">
              <a:buNone/>
            </a:pPr>
            <a:endParaRPr lang="en-IN" dirty="0"/>
          </a:p>
        </p:txBody>
      </p:sp>
    </p:spTree>
    <p:extLst>
      <p:ext uri="{BB962C8B-B14F-4D97-AF65-F5344CB8AC3E}">
        <p14:creationId xmlns:p14="http://schemas.microsoft.com/office/powerpoint/2010/main" val="33374896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dirty="0">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dirty="0">
                <a:solidFill>
                  <a:srgbClr val="2B3541"/>
                </a:solidFill>
                <a:latin typeface="Times New Roman"/>
                <a:ea typeface="Times New Roman"/>
                <a:cs typeface="Times New Roman"/>
                <a:sym typeface="Times New Roman"/>
              </a:rPr>
              <a:t>2.</a:t>
            </a:r>
            <a:r>
              <a:rPr lang="en-US" sz="1850" b="1" i="0" u="none" strike="noStrike" cap="none" dirty="0">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dirty="0">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1303</TotalTime>
  <Words>1209</Words>
  <Application>Microsoft Office PowerPoint</Application>
  <PresentationFormat>Widescreen</PresentationFormat>
  <Paragraphs>134</Paragraphs>
  <Slides>21</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Courier New</vt:lpstr>
      <vt:lpstr>Times New Roman</vt:lpstr>
      <vt:lpstr>Wingdings</vt:lpstr>
      <vt:lpstr>Office Theme</vt:lpstr>
      <vt:lpstr>IBM University Engagement  “Smart Home Energy Advisor”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Smart Home Energy Advisor RAG Knowledge Base</vt:lpstr>
      <vt:lpstr>BEHAVIOR OF THE SYSTEM</vt:lpstr>
      <vt:lpstr>BEHAVIOR OF THE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Github Link</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admin</cp:lastModifiedBy>
  <cp:revision>55</cp:revision>
  <dcterms:created xsi:type="dcterms:W3CDTF">2025-07-08T05:06:56Z</dcterms:created>
  <dcterms:modified xsi:type="dcterms:W3CDTF">2026-06-17T10:35:13Z</dcterms:modified>
</cp:coreProperties>
</file>